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50" r:id="rId2"/>
    <p:sldId id="471" r:id="rId3"/>
    <p:sldId id="480" r:id="rId4"/>
    <p:sldId id="257" r:id="rId5"/>
    <p:sldId id="258" r:id="rId6"/>
    <p:sldId id="265" r:id="rId7"/>
    <p:sldId id="476" r:id="rId8"/>
    <p:sldId id="267" r:id="rId9"/>
    <p:sldId id="483" r:id="rId10"/>
    <p:sldId id="482" r:id="rId11"/>
    <p:sldId id="268" r:id="rId12"/>
    <p:sldId id="316" r:id="rId13"/>
    <p:sldId id="274" r:id="rId14"/>
    <p:sldId id="439" r:id="rId15"/>
    <p:sldId id="472" r:id="rId16"/>
    <p:sldId id="473" r:id="rId17"/>
    <p:sldId id="269" r:id="rId18"/>
    <p:sldId id="270" r:id="rId19"/>
    <p:sldId id="481" r:id="rId20"/>
    <p:sldId id="271" r:id="rId21"/>
    <p:sldId id="272" r:id="rId22"/>
    <p:sldId id="266" r:id="rId23"/>
    <p:sldId id="292" r:id="rId24"/>
    <p:sldId id="312" r:id="rId25"/>
    <p:sldId id="290" r:id="rId26"/>
    <p:sldId id="291" r:id="rId27"/>
    <p:sldId id="295" r:id="rId28"/>
    <p:sldId id="479" r:id="rId2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F8754"/>
    <a:srgbClr val="FF0000"/>
    <a:srgbClr val="0000FF"/>
    <a:srgbClr val="00CCFF"/>
    <a:srgbClr val="9966FF"/>
    <a:srgbClr val="0000CC"/>
    <a:srgbClr val="6699FF"/>
    <a:srgbClr val="33D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81" autoAdjust="0"/>
  </p:normalViewPr>
  <p:slideViewPr>
    <p:cSldViewPr>
      <p:cViewPr varScale="1">
        <p:scale>
          <a:sx n="125" d="100"/>
          <a:sy n="125" d="100"/>
        </p:scale>
        <p:origin x="15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10" rIns="91417" bIns="4571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1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10" rIns="91417" bIns="4571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263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89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10" rIns="91417" bIns="4571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263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9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10" rIns="91417" bIns="4571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915433-A198-4AFB-9BA1-7E86E6F46D6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536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38" tIns="48320" rIns="96638" bIns="48320" numCol="1" anchor="t" anchorCtr="0" compatLnSpc="1">
            <a:prstTxWarp prst="textNoShape">
              <a:avLst/>
            </a:prstTxWarp>
          </a:bodyPr>
          <a:lstStyle>
            <a:lvl1pPr defTabSz="966646">
              <a:defRPr sz="1300"/>
            </a:lvl1pPr>
          </a:lstStyle>
          <a:p>
            <a:endParaRPr lang="en-US" dirty="0"/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1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38" tIns="48320" rIns="96638" bIns="4832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300"/>
            </a:lvl1pPr>
          </a:lstStyle>
          <a:p>
            <a:endParaRPr lang="en-US" dirty="0"/>
          </a:p>
        </p:txBody>
      </p:sp>
      <p:sp>
        <p:nvSpPr>
          <p:cNvPr id="189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89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9" y="4560890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38" tIns="48320" rIns="96638" bIns="48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89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89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38" tIns="48320" rIns="96638" bIns="48320" numCol="1" anchor="b" anchorCtr="0" compatLnSpc="1">
            <a:prstTxWarp prst="textNoShape">
              <a:avLst/>
            </a:prstTxWarp>
          </a:bodyPr>
          <a:lstStyle>
            <a:lvl1pPr defTabSz="966646">
              <a:defRPr sz="1300"/>
            </a:lvl1pPr>
          </a:lstStyle>
          <a:p>
            <a:endParaRPr lang="en-US" dirty="0"/>
          </a:p>
        </p:txBody>
      </p:sp>
      <p:sp>
        <p:nvSpPr>
          <p:cNvPr id="189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9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38" tIns="48320" rIns="96638" bIns="4832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300"/>
            </a:lvl1pPr>
          </a:lstStyle>
          <a:p>
            <a:fld id="{CD54563D-1D29-4570-908E-D97A4DA5C92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034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F078B0-EC8F-454E-9BE1-EF13A7FE32AC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260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A98F69-D085-42FE-8D27-7A5885AB7CF2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473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0A64C-9246-493C-B034-8D97E9FE6A53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39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BE1795-2B05-4951-94BF-A497699B264C}" type="slidenum">
              <a:rPr lang="en-US"/>
              <a:pPr/>
              <a:t>5</a:t>
            </a:fld>
            <a:endParaRPr 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13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95A32C-98C9-41A6-AFDA-EF16D36E1849}" type="slidenum">
              <a:rPr lang="en-US"/>
              <a:pPr/>
              <a:t>6</a:t>
            </a:fld>
            <a:endParaRPr lang="en-US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23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95A32C-98C9-41A6-AFDA-EF16D36E1849}" type="slidenum">
              <a:rPr lang="en-US"/>
              <a:pPr/>
              <a:t>7</a:t>
            </a:fld>
            <a:endParaRPr lang="en-US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3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21EA17-7AFE-4DD0-A22C-67DF65C36F20}" type="slidenum">
              <a:rPr lang="en-US"/>
              <a:pPr/>
              <a:t>8</a:t>
            </a:fld>
            <a:endParaRPr lang="en-US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59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0F2469-217F-4868-94DE-66AC740A0741}" type="slidenum">
              <a:rPr lang="en-US"/>
              <a:pPr/>
              <a:t>9</a:t>
            </a:fld>
            <a:endParaRPr lang="en-US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57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38F529-E0E5-45B6-BBAF-942214A97BDF}" type="slidenum">
              <a:rPr lang="en-US"/>
              <a:pPr/>
              <a:t>10</a:t>
            </a:fld>
            <a:endParaRPr lang="en-US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12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38F529-E0E5-45B6-BBAF-942214A97BDF}" type="slidenum">
              <a:rPr lang="en-US"/>
              <a:pPr/>
              <a:t>11</a:t>
            </a:fld>
            <a:endParaRPr lang="en-US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0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DB5526-29CB-46FB-B329-233B2F03A2FC}" type="slidenum">
              <a:rPr lang="en-US"/>
              <a:pPr/>
              <a:t>12</a:t>
            </a:fld>
            <a:endParaRPr lang="en-US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A6B28-4AED-4F8E-8F87-ED887E188F6C}" type="slidenum">
              <a:rPr lang="en-US"/>
              <a:pPr/>
              <a:t>13</a:t>
            </a:fld>
            <a:endParaRPr lang="en-US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72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75893C-D563-42EA-BFFF-19CD000DCA60}" type="slidenum">
              <a:rPr lang="en-US"/>
              <a:pPr/>
              <a:t>14</a:t>
            </a:fld>
            <a:endParaRPr lang="en-US"/>
          </a:p>
        </p:txBody>
      </p:sp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37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38E0C2-FA4D-4F66-BA06-0F3620CD70BB}" type="slidenum">
              <a:rPr lang="en-US"/>
              <a:pPr/>
              <a:t>15</a:t>
            </a:fld>
            <a:endParaRPr lang="en-US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92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38E0C2-FA4D-4F66-BA06-0F3620CD70BB}" type="slidenum">
              <a:rPr lang="en-US"/>
              <a:pPr/>
              <a:t>16</a:t>
            </a:fld>
            <a:endParaRPr lang="en-US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92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03FA4C-490A-4FEE-8846-A3DF421925A1}" type="slidenum">
              <a:rPr lang="en-US"/>
              <a:pPr/>
              <a:t>17</a:t>
            </a:fld>
            <a:endParaRPr lang="en-US"/>
          </a:p>
        </p:txBody>
      </p:sp>
      <p:sp>
        <p:nvSpPr>
          <p:cNvPr id="30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2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F51781-E04D-4698-AA78-4DB8B44DC975}" type="slidenum">
              <a:rPr lang="en-US"/>
              <a:pPr/>
              <a:t>18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96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F51781-E04D-4698-AA78-4DB8B44DC975}" type="slidenum">
              <a:rPr lang="en-US"/>
              <a:pPr/>
              <a:t>19</a:t>
            </a:fld>
            <a:endParaRPr lang="en-US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19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A2FF0B-F50E-4A7C-AEDD-8554D01C3181}" type="slidenum">
              <a:rPr lang="en-US"/>
              <a:pPr/>
              <a:t>20</a:t>
            </a:fld>
            <a:endParaRPr lang="en-US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05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66C02A-4183-43A0-B608-32004E6756B2}" type="slidenum">
              <a:rPr lang="en-US"/>
              <a:pPr/>
              <a:t>21</a:t>
            </a:fld>
            <a:endParaRPr lang="en-US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67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B9C9BD-C059-43D5-95B0-B6EE8B5F7707}" type="slidenum">
              <a:rPr lang="en-US"/>
              <a:pPr/>
              <a:t>22</a:t>
            </a:fld>
            <a:endParaRPr lang="en-US"/>
          </a:p>
        </p:txBody>
      </p:sp>
      <p:sp>
        <p:nvSpPr>
          <p:cNvPr id="30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54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7F36AA-282A-4818-889C-B83D3EE35021}" type="slidenum">
              <a:rPr lang="en-US"/>
              <a:pPr/>
              <a:t>23</a:t>
            </a:fld>
            <a:endParaRPr lang="en-US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043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57D1F0-E818-4EF0-8F4E-8AFD86086EC6}" type="slidenum">
              <a:rPr lang="en-US"/>
              <a:pPr/>
              <a:t>24</a:t>
            </a:fld>
            <a:endParaRPr lang="en-US"/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237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83C2B0-E3A3-497F-A2FA-9232B0938929}" type="slidenum">
              <a:rPr lang="en-US"/>
              <a:pPr/>
              <a:t>25</a:t>
            </a:fld>
            <a:endParaRPr lang="en-US"/>
          </a:p>
        </p:txBody>
      </p:sp>
      <p:sp>
        <p:nvSpPr>
          <p:cNvPr id="311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856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8537FD-D288-4C0C-B555-458B922A16CD}" type="slidenum">
              <a:rPr lang="en-US"/>
              <a:pPr/>
              <a:t>26</a:t>
            </a:fld>
            <a:endParaRPr lang="en-US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77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E69352-E024-4CF8-A9BE-24F2AB1ACFCA}" type="slidenum">
              <a:rPr lang="en-US"/>
              <a:pPr/>
              <a:t>27</a:t>
            </a:fld>
            <a:endParaRPr lang="en-US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537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E69352-E024-4CF8-A9BE-24F2AB1ACFCA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15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1" charset="2"/>
              <a:buNone/>
              <a:defRPr sz="32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4085987-4FE8-4F11-B11F-13C25BB03CF3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160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C7851-EDF9-4F1B-8F05-4A5DA4E7E90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0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9D8EB8-E6A2-4407-AE64-690390001B7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1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0E673-9536-4FF5-9CF7-C730D1E5F75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4185B8-23CB-4C0C-9BE7-D9DB852423D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8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7C216-9C03-4F78-81E6-FBC2846C177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A6A56A-DDE5-439B-88DF-E467F9384CF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0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BD002-8A33-4EF3-A8B3-774248FCC39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18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1EE23-C65A-4860-9770-9F287ADFF3F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30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5920F-A3E3-4331-8782-8C456D47806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1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9A5C3C-3049-4979-B7D8-C07DD738D71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9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3F28B0B-5A3F-4DF3-9582-2608CFF4D1E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95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36E608D-4669-460E-9207-2AA5CE4E3FD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224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F759DF21-47FA-4FAE-B29E-DE4ACD6A255F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410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1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1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1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Matching Theory</a:t>
            </a:r>
          </a:p>
        </p:txBody>
      </p:sp>
      <p:sp>
        <p:nvSpPr>
          <p:cNvPr id="11366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085987-4FE8-4F11-B11F-13C25BB03CF3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r>
              <a:rPr lang="en-US" dirty="0" smtClean="0"/>
              <a:t>Two-Sided Matching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2819400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200" dirty="0" smtClean="0"/>
              <a:t>Statement of the problem</a:t>
            </a:r>
            <a:endParaRPr lang="en-US" sz="2200" dirty="0"/>
          </a:p>
          <a:p>
            <a:pPr lvl="1">
              <a:spcAft>
                <a:spcPct val="20000"/>
              </a:spcAft>
            </a:pPr>
            <a:r>
              <a:rPr lang="en-US" sz="2000" dirty="0"/>
              <a:t>Two sides of the market to be </a:t>
            </a:r>
            <a:r>
              <a:rPr lang="en-US" sz="2000" dirty="0" smtClean="0"/>
              <a:t>matched.</a:t>
            </a:r>
            <a:endParaRPr lang="en-US" sz="2000" dirty="0"/>
          </a:p>
          <a:p>
            <a:pPr lvl="1">
              <a:spcAft>
                <a:spcPct val="20000"/>
              </a:spcAft>
            </a:pPr>
            <a:r>
              <a:rPr lang="en-US" sz="2000" dirty="0"/>
              <a:t>Participants </a:t>
            </a:r>
            <a:r>
              <a:rPr lang="en-US" sz="2000" dirty="0" smtClean="0"/>
              <a:t>on </a:t>
            </a:r>
            <a:r>
              <a:rPr lang="en-US" sz="2000" dirty="0"/>
              <a:t>both sides care about to whom they are matched.</a:t>
            </a:r>
          </a:p>
          <a:p>
            <a:pPr lvl="1">
              <a:spcAft>
                <a:spcPct val="20000"/>
              </a:spcAft>
            </a:pPr>
            <a:r>
              <a:rPr lang="en-US" sz="2000" dirty="0"/>
              <a:t>M</a:t>
            </a:r>
            <a:r>
              <a:rPr lang="en-US" sz="2000" dirty="0" smtClean="0"/>
              <a:t>oney can’t </a:t>
            </a:r>
            <a:r>
              <a:rPr lang="en-US" sz="2000" dirty="0"/>
              <a:t>be used to </a:t>
            </a:r>
            <a:r>
              <a:rPr lang="en-US" sz="2000" dirty="0" smtClean="0"/>
              <a:t>determine </a:t>
            </a:r>
            <a:r>
              <a:rPr lang="en-US" sz="2000" dirty="0"/>
              <a:t>the assignment</a:t>
            </a:r>
            <a:r>
              <a:rPr lang="en-US" sz="2000" dirty="0" smtClean="0"/>
              <a:t>.</a:t>
            </a:r>
            <a:endParaRPr lang="en-US" sz="2000" dirty="0"/>
          </a:p>
          <a:p>
            <a:pPr lvl="3">
              <a:lnSpc>
                <a:spcPct val="120000"/>
              </a:lnSpc>
              <a:spcAft>
                <a:spcPct val="20000"/>
              </a:spcAft>
            </a:pPr>
            <a:endParaRPr lang="en-US" sz="1200" dirty="0" smtClean="0"/>
          </a:p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en-US" sz="2200" dirty="0" smtClean="0"/>
              <a:t>Examples </a:t>
            </a:r>
            <a:endParaRPr lang="en-US" sz="2200" dirty="0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838200" y="4143375"/>
            <a:ext cx="41148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 smtClean="0"/>
              <a:t>Marriage &amp; dating markets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 smtClean="0"/>
              <a:t>Fraternity/sorority rush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 smtClean="0"/>
              <a:t>School choice programs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 smtClean="0"/>
              <a:t>College admissions</a:t>
            </a:r>
            <a:endParaRPr lang="en-US" sz="2000" dirty="0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4572000" y="4143375"/>
            <a:ext cx="41148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 smtClean="0"/>
              <a:t>Medical residencies</a:t>
            </a: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/>
              <a:t>Judicial clerkships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/>
              <a:t>Military postings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</a:pPr>
            <a:r>
              <a:rPr lang="en-US" sz="2000" dirty="0" smtClean="0"/>
              <a:t>Job assignments in firms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7" grpId="0"/>
      <p:bldP spid="184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Content Placeholder 7" descr="Judges Compete for Law Clerks on a Lawless Terrain - NYTimes.pdf - Adobe Acrobat Pro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1"/>
            <a:ext cx="10755683" cy="6858000"/>
          </a:xfrm>
        </p:spPr>
      </p:pic>
    </p:spTree>
    <p:extLst>
      <p:ext uri="{BB962C8B-B14F-4D97-AF65-F5344CB8AC3E}">
        <p14:creationId xmlns:p14="http://schemas.microsoft.com/office/powerpoint/2010/main" val="240514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Marriage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49101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600" b="1" dirty="0">
                <a:solidFill>
                  <a:srgbClr val="5F3EEA"/>
                </a:solidFill>
              </a:rPr>
              <a:t>Participants</a:t>
            </a:r>
            <a:endParaRPr lang="en-US" sz="2600" dirty="0">
              <a:solidFill>
                <a:srgbClr val="5F3EEA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sz="2200" dirty="0"/>
              <a:t>Set of men </a:t>
            </a:r>
            <a:r>
              <a:rPr lang="en-US" sz="2200" i="1" dirty="0"/>
              <a:t>M, </a:t>
            </a:r>
            <a:r>
              <a:rPr lang="en-US" sz="2200" dirty="0"/>
              <a:t>with typical man </a:t>
            </a:r>
            <a:r>
              <a:rPr lang="en-US" sz="2200" i="1" dirty="0"/>
              <a:t>m</a:t>
            </a:r>
            <a:r>
              <a:rPr lang="en-US" sz="2200" i="1" dirty="0" smtClean="0">
                <a:sym typeface="Symbol" pitchFamily="1" charset="2"/>
              </a:rPr>
              <a:t> M</a:t>
            </a:r>
            <a:r>
              <a:rPr lang="en-US" sz="2200" dirty="0" smtClean="0">
                <a:sym typeface="Symbol" pitchFamily="1" charset="2"/>
              </a:rPr>
              <a:t> </a:t>
            </a:r>
            <a:endParaRPr lang="en-US" sz="2200" dirty="0">
              <a:sym typeface="Symbol" pitchFamily="1" charset="2"/>
            </a:endParaRPr>
          </a:p>
          <a:p>
            <a:pPr lvl="1">
              <a:spcAft>
                <a:spcPct val="20000"/>
              </a:spcAft>
            </a:pPr>
            <a:r>
              <a:rPr lang="en-US" sz="2200" dirty="0">
                <a:sym typeface="Symbol" pitchFamily="1" charset="2"/>
              </a:rPr>
              <a:t>Set of women </a:t>
            </a:r>
            <a:r>
              <a:rPr lang="en-US" sz="2200" i="1" dirty="0">
                <a:sym typeface="Symbol" pitchFamily="1" charset="2"/>
              </a:rPr>
              <a:t>W</a:t>
            </a:r>
            <a:r>
              <a:rPr lang="en-US" sz="2200" dirty="0">
                <a:sym typeface="Symbol" pitchFamily="1" charset="2"/>
              </a:rPr>
              <a:t>, with typical woman </a:t>
            </a:r>
            <a:r>
              <a:rPr lang="en-US" sz="2200" i="1" dirty="0">
                <a:sym typeface="Symbol" pitchFamily="1" charset="2"/>
              </a:rPr>
              <a:t>w </a:t>
            </a:r>
            <a:r>
              <a:rPr lang="en-US" sz="2200" i="1" dirty="0" smtClean="0">
                <a:sym typeface="Symbol" pitchFamily="1" charset="2"/>
              </a:rPr>
              <a:t> W</a:t>
            </a:r>
            <a:r>
              <a:rPr lang="en-US" sz="2200" dirty="0">
                <a:sym typeface="Symbol" pitchFamily="1" charset="2"/>
              </a:rPr>
              <a:t>.</a:t>
            </a:r>
          </a:p>
          <a:p>
            <a:pPr lvl="1">
              <a:spcAft>
                <a:spcPct val="20000"/>
              </a:spcAft>
            </a:pPr>
            <a:r>
              <a:rPr lang="en-US" sz="2200" dirty="0"/>
              <a:t>One-to-one matching: each man can be matched to one woman, and vice-versa.</a:t>
            </a:r>
          </a:p>
          <a:p>
            <a:pPr>
              <a:spcAft>
                <a:spcPct val="20000"/>
              </a:spcAft>
            </a:pPr>
            <a:r>
              <a:rPr lang="en-US" sz="2600" b="1" dirty="0">
                <a:solidFill>
                  <a:srgbClr val="5F3EEA"/>
                </a:solidFill>
              </a:rPr>
              <a:t>Preferences</a:t>
            </a:r>
            <a:endParaRPr lang="en-US" sz="2600" dirty="0">
              <a:solidFill>
                <a:srgbClr val="5F3EEA"/>
              </a:solidFill>
            </a:endParaRPr>
          </a:p>
          <a:p>
            <a:pPr lvl="1">
              <a:spcAft>
                <a:spcPct val="20000"/>
              </a:spcAft>
            </a:pPr>
            <a:r>
              <a:rPr lang="en-US" sz="2200" dirty="0"/>
              <a:t>Each man has strict preferences over women, and vice versa.</a:t>
            </a:r>
          </a:p>
          <a:p>
            <a:pPr lvl="1">
              <a:spcAft>
                <a:spcPct val="20000"/>
              </a:spcAft>
            </a:pPr>
            <a:r>
              <a:rPr lang="en-US" sz="2200" dirty="0">
                <a:sym typeface="Symbol" pitchFamily="1" charset="2"/>
              </a:rPr>
              <a:t>A woman </a:t>
            </a:r>
            <a:r>
              <a:rPr lang="en-US" sz="2200" i="1" dirty="0">
                <a:sym typeface="Symbol" pitchFamily="1" charset="2"/>
              </a:rPr>
              <a:t>w </a:t>
            </a:r>
            <a:r>
              <a:rPr lang="en-US" sz="2200" dirty="0">
                <a:sym typeface="Symbol" pitchFamily="1" charset="2"/>
              </a:rPr>
              <a:t>is </a:t>
            </a:r>
            <a:r>
              <a:rPr lang="en-US" sz="2200" i="1" dirty="0">
                <a:sym typeface="Symbol" pitchFamily="1" charset="2"/>
              </a:rPr>
              <a:t>acceptable </a:t>
            </a:r>
            <a:r>
              <a:rPr lang="en-US" sz="2200" dirty="0">
                <a:sym typeface="Symbol" pitchFamily="1" charset="2"/>
              </a:rPr>
              <a:t>to </a:t>
            </a:r>
            <a:r>
              <a:rPr lang="en-US" sz="2200" i="1" dirty="0">
                <a:sym typeface="Symbol" pitchFamily="1" charset="2"/>
              </a:rPr>
              <a:t>m </a:t>
            </a:r>
            <a:r>
              <a:rPr lang="en-US" sz="2200" dirty="0">
                <a:sym typeface="Symbol" pitchFamily="1" charset="2"/>
              </a:rPr>
              <a:t>if </a:t>
            </a:r>
            <a:r>
              <a:rPr lang="en-US" sz="2200" i="1" dirty="0">
                <a:sym typeface="Symbol" pitchFamily="1" charset="2"/>
              </a:rPr>
              <a:t>m </a:t>
            </a:r>
            <a:r>
              <a:rPr lang="en-US" sz="2200" dirty="0">
                <a:sym typeface="Symbol" pitchFamily="1" charset="2"/>
              </a:rPr>
              <a:t>prefers </a:t>
            </a:r>
            <a:r>
              <a:rPr lang="en-US" sz="2200" i="1" dirty="0">
                <a:sym typeface="Symbol" pitchFamily="1" charset="2"/>
              </a:rPr>
              <a:t>w </a:t>
            </a:r>
            <a:r>
              <a:rPr lang="en-US" sz="2200" dirty="0">
                <a:sym typeface="Symbol" pitchFamily="1" charset="2"/>
              </a:rPr>
              <a:t>to being unmatched.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8B0B-5A3F-4DF3-9582-2608CFF4D1ED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20000"/>
              </a:spcAft>
            </a:pPr>
            <a:r>
              <a:rPr lang="en-US" sz="2600" dirty="0"/>
              <a:t>A </a:t>
            </a:r>
            <a:r>
              <a:rPr lang="en-US" sz="2600" b="1" i="1" dirty="0">
                <a:solidFill>
                  <a:srgbClr val="5F3EEA"/>
                </a:solidFill>
              </a:rPr>
              <a:t>matching</a:t>
            </a:r>
            <a:r>
              <a:rPr lang="en-US" sz="2600" dirty="0"/>
              <a:t> is a set of pairs </a:t>
            </a:r>
            <a:r>
              <a:rPr lang="en-US" sz="2600" i="1" dirty="0"/>
              <a:t>(</a:t>
            </a:r>
            <a:r>
              <a:rPr lang="en-US" sz="2600" i="1" dirty="0" err="1"/>
              <a:t>m,w</a:t>
            </a:r>
            <a:r>
              <a:rPr lang="en-US" sz="2600" i="1" dirty="0"/>
              <a:t>)</a:t>
            </a:r>
            <a:r>
              <a:rPr lang="en-US" sz="2600" dirty="0"/>
              <a:t> such that each individual has one partner.</a:t>
            </a:r>
          </a:p>
          <a:p>
            <a:pPr lvl="1">
              <a:spcAft>
                <a:spcPct val="20000"/>
              </a:spcAft>
            </a:pPr>
            <a:r>
              <a:rPr lang="en-US" sz="2200" dirty="0"/>
              <a:t>If the match includes </a:t>
            </a:r>
            <a:r>
              <a:rPr lang="en-US" sz="2200" i="1" dirty="0"/>
              <a:t>(</a:t>
            </a:r>
            <a:r>
              <a:rPr lang="en-US" sz="2200" i="1" dirty="0" err="1"/>
              <a:t>m,m</a:t>
            </a:r>
            <a:r>
              <a:rPr lang="en-US" sz="2200" i="1" dirty="0"/>
              <a:t>)</a:t>
            </a:r>
            <a:r>
              <a:rPr lang="en-US" sz="2200" dirty="0"/>
              <a:t> then m is unmatched.</a:t>
            </a:r>
          </a:p>
          <a:p>
            <a:pPr>
              <a:spcAft>
                <a:spcPct val="20000"/>
              </a:spcAft>
            </a:pPr>
            <a:r>
              <a:rPr lang="en-US" sz="2600" dirty="0"/>
              <a:t>A matching is </a:t>
            </a:r>
            <a:r>
              <a:rPr lang="en-US" sz="2600" b="1" i="1" dirty="0">
                <a:solidFill>
                  <a:srgbClr val="5F3EEA"/>
                </a:solidFill>
              </a:rPr>
              <a:t>stable</a:t>
            </a:r>
            <a:r>
              <a:rPr lang="en-US" sz="2600" b="1" dirty="0"/>
              <a:t> </a:t>
            </a:r>
            <a:r>
              <a:rPr lang="en-US" sz="2600" dirty="0"/>
              <a:t>if</a:t>
            </a:r>
          </a:p>
          <a:p>
            <a:pPr lvl="1">
              <a:spcAft>
                <a:spcPct val="20000"/>
              </a:spcAft>
            </a:pPr>
            <a:r>
              <a:rPr lang="en-US" sz="2200" dirty="0"/>
              <a:t>Every individual is matched with an acceptable partner.</a:t>
            </a:r>
          </a:p>
          <a:p>
            <a:pPr lvl="1">
              <a:spcAft>
                <a:spcPct val="20000"/>
              </a:spcAft>
            </a:pPr>
            <a:r>
              <a:rPr lang="en-US" sz="2200" dirty="0"/>
              <a:t>There is no man-woman pair, each of whom would prefer to match with each other rather than their assigned partner.</a:t>
            </a:r>
          </a:p>
          <a:p>
            <a:pPr>
              <a:spcAft>
                <a:spcPct val="20000"/>
              </a:spcAft>
            </a:pPr>
            <a:r>
              <a:rPr lang="en-US" sz="2600" dirty="0"/>
              <a:t>If such a pair exists, they are a </a:t>
            </a:r>
            <a:r>
              <a:rPr lang="en-US" sz="2600" b="1" i="1" dirty="0">
                <a:solidFill>
                  <a:srgbClr val="5F3EEA"/>
                </a:solidFill>
              </a:rPr>
              <a:t>blocking pair</a:t>
            </a:r>
            <a:r>
              <a:rPr lang="en-US" sz="2600" i="1" dirty="0"/>
              <a:t> </a:t>
            </a:r>
            <a:r>
              <a:rPr lang="en-US" sz="2600" dirty="0"/>
              <a:t>and the match is </a:t>
            </a:r>
            <a:r>
              <a:rPr lang="en-US" sz="2600" b="1" i="1" dirty="0">
                <a:solidFill>
                  <a:srgbClr val="5F3EEA"/>
                </a:solidFill>
              </a:rPr>
              <a:t>unstable</a:t>
            </a:r>
            <a:r>
              <a:rPr lang="en-US" sz="2600" b="1" dirty="0"/>
              <a:t>. 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339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 smtClean="0"/>
              <a:t>Two </a:t>
            </a:r>
            <a:r>
              <a:rPr lang="en-US" sz="2400" dirty="0"/>
              <a:t>men </a:t>
            </a:r>
            <a:r>
              <a:rPr lang="en-US" sz="2400" i="1" dirty="0" err="1"/>
              <a:t>m,m</a:t>
            </a:r>
            <a:r>
              <a:rPr lang="en-US" sz="2400" i="1" dirty="0"/>
              <a:t>’ </a:t>
            </a:r>
            <a:r>
              <a:rPr lang="en-US" sz="2400" dirty="0"/>
              <a:t>and two women </a:t>
            </a:r>
            <a:r>
              <a:rPr lang="en-US" sz="2400" i="1" dirty="0" err="1"/>
              <a:t>w,w</a:t>
            </a:r>
            <a:r>
              <a:rPr lang="en-US" sz="2400" i="1" dirty="0"/>
              <a:t>’</a:t>
            </a:r>
          </a:p>
          <a:p>
            <a:pPr>
              <a:lnSpc>
                <a:spcPct val="110000"/>
              </a:lnSpc>
            </a:pPr>
            <a:endParaRPr lang="en-US" sz="2100" b="1" dirty="0" smtClean="0">
              <a:solidFill>
                <a:srgbClr val="5F3EEA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400" i="1" dirty="0" smtClean="0"/>
              <a:t>m </a:t>
            </a:r>
            <a:r>
              <a:rPr lang="en-US" sz="2400" dirty="0"/>
              <a:t>prefers </a:t>
            </a:r>
            <a:r>
              <a:rPr lang="en-US" sz="2400" i="1" dirty="0"/>
              <a:t>w </a:t>
            </a:r>
            <a:r>
              <a:rPr lang="en-US" sz="2400" dirty="0"/>
              <a:t>to </a:t>
            </a:r>
            <a:r>
              <a:rPr lang="en-US" sz="2400" i="1" dirty="0"/>
              <a:t>w’ 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i="1" dirty="0" smtClean="0"/>
              <a:t>m</a:t>
            </a:r>
            <a:r>
              <a:rPr lang="en-US" sz="2400" i="1" dirty="0"/>
              <a:t>’ </a:t>
            </a:r>
            <a:r>
              <a:rPr lang="en-US" sz="2400" dirty="0"/>
              <a:t>prefers </a:t>
            </a:r>
            <a:r>
              <a:rPr lang="en-US" sz="2400" i="1" dirty="0"/>
              <a:t>w’ </a:t>
            </a:r>
            <a:r>
              <a:rPr lang="en-US" sz="2400" dirty="0"/>
              <a:t>to </a:t>
            </a:r>
            <a:r>
              <a:rPr lang="en-US" sz="2400" i="1" dirty="0"/>
              <a:t>w</a:t>
            </a:r>
          </a:p>
          <a:p>
            <a:pPr>
              <a:lnSpc>
                <a:spcPct val="110000"/>
              </a:lnSpc>
            </a:pPr>
            <a:r>
              <a:rPr lang="en-US" sz="2400" i="1" dirty="0"/>
              <a:t>w </a:t>
            </a:r>
            <a:r>
              <a:rPr lang="en-US" sz="2400" dirty="0"/>
              <a:t>prefers </a:t>
            </a:r>
            <a:r>
              <a:rPr lang="en-US" sz="2400" i="1" dirty="0"/>
              <a:t>m </a:t>
            </a:r>
            <a:r>
              <a:rPr lang="en-US" sz="2400" dirty="0"/>
              <a:t>to </a:t>
            </a:r>
            <a:r>
              <a:rPr lang="en-US" sz="2400" i="1" dirty="0"/>
              <a:t>m’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400" i="1" dirty="0" smtClean="0"/>
              <a:t>w</a:t>
            </a:r>
            <a:r>
              <a:rPr lang="en-US" sz="2400" i="1" dirty="0"/>
              <a:t>’ </a:t>
            </a:r>
            <a:r>
              <a:rPr lang="en-US" sz="2400" dirty="0"/>
              <a:t>prefers </a:t>
            </a:r>
            <a:r>
              <a:rPr lang="en-US" sz="2400" i="1" dirty="0"/>
              <a:t>m’ </a:t>
            </a:r>
            <a:r>
              <a:rPr lang="en-US" sz="2400" dirty="0"/>
              <a:t>to </a:t>
            </a:r>
            <a:r>
              <a:rPr lang="en-US" sz="2400" i="1" dirty="0"/>
              <a:t>m</a:t>
            </a:r>
          </a:p>
          <a:p>
            <a:pPr marL="344487" lvl="1" indent="0">
              <a:lnSpc>
                <a:spcPct val="110000"/>
              </a:lnSpc>
              <a:buNone/>
            </a:pPr>
            <a:endParaRPr lang="en-US" sz="2000" dirty="0" smtClean="0"/>
          </a:p>
          <a:p>
            <a:pPr>
              <a:lnSpc>
                <a:spcPct val="110000"/>
              </a:lnSpc>
            </a:pPr>
            <a:r>
              <a:rPr lang="en-US" sz="2400" dirty="0" smtClean="0"/>
              <a:t>Possible match: </a:t>
            </a:r>
            <a:r>
              <a:rPr lang="en-US" sz="2400" i="1" dirty="0" smtClean="0"/>
              <a:t>(</a:t>
            </a:r>
            <a:r>
              <a:rPr lang="en-US" sz="2400" i="1" dirty="0" err="1" smtClean="0"/>
              <a:t>m,w</a:t>
            </a:r>
            <a:r>
              <a:rPr lang="en-US" sz="2400" i="1" dirty="0" smtClean="0"/>
              <a:t>’) </a:t>
            </a:r>
            <a:r>
              <a:rPr lang="en-US" sz="2400" dirty="0" smtClean="0"/>
              <a:t>and </a:t>
            </a:r>
            <a:r>
              <a:rPr lang="en-US" sz="2400" i="1" dirty="0" smtClean="0"/>
              <a:t>(</a:t>
            </a:r>
            <a:r>
              <a:rPr lang="en-US" sz="2400" i="1" dirty="0" err="1" smtClean="0"/>
              <a:t>m’,w</a:t>
            </a:r>
            <a:r>
              <a:rPr lang="en-US" sz="2400" i="1" dirty="0" smtClean="0"/>
              <a:t>)</a:t>
            </a:r>
            <a:endParaRPr lang="en-US" sz="2400" dirty="0" smtClean="0"/>
          </a:p>
          <a:p>
            <a:pPr>
              <a:lnSpc>
                <a:spcPct val="110000"/>
              </a:lnSpc>
            </a:pPr>
            <a:r>
              <a:rPr lang="en-US" sz="2400" dirty="0" smtClean="0"/>
              <a:t>Unique </a:t>
            </a:r>
            <a:r>
              <a:rPr lang="en-US" sz="2400" dirty="0"/>
              <a:t>stable match: </a:t>
            </a:r>
            <a:r>
              <a:rPr lang="en-US" sz="2400" i="1" dirty="0"/>
              <a:t>(</a:t>
            </a:r>
            <a:r>
              <a:rPr lang="en-US" sz="2400" i="1" dirty="0" err="1"/>
              <a:t>m,w</a:t>
            </a:r>
            <a:r>
              <a:rPr lang="en-US" sz="2400" i="1" dirty="0"/>
              <a:t>) </a:t>
            </a:r>
            <a:r>
              <a:rPr lang="en-US" sz="2400" dirty="0"/>
              <a:t>and </a:t>
            </a:r>
            <a:r>
              <a:rPr lang="en-US" sz="2400" i="1" dirty="0"/>
              <a:t>(</a:t>
            </a:r>
            <a:r>
              <a:rPr lang="en-US" sz="2400" i="1" dirty="0" err="1"/>
              <a:t>m’,w</a:t>
            </a:r>
            <a:r>
              <a:rPr lang="en-US" sz="2400" i="1" dirty="0" smtClean="0"/>
              <a:t>’)</a:t>
            </a:r>
            <a:endParaRPr lang="en-US" sz="24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339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/>
              <a:t>Two men </a:t>
            </a:r>
            <a:r>
              <a:rPr lang="en-US" sz="2400" i="1" dirty="0" err="1"/>
              <a:t>m,m</a:t>
            </a:r>
            <a:r>
              <a:rPr lang="en-US" sz="2400" i="1" dirty="0"/>
              <a:t>’ </a:t>
            </a:r>
            <a:r>
              <a:rPr lang="en-US" sz="2400" dirty="0"/>
              <a:t>and two women </a:t>
            </a:r>
            <a:r>
              <a:rPr lang="en-US" sz="2400" i="1" dirty="0" err="1"/>
              <a:t>w,w</a:t>
            </a:r>
            <a:r>
              <a:rPr lang="en-US" sz="2400" i="1" dirty="0" smtClean="0"/>
              <a:t>’</a:t>
            </a:r>
          </a:p>
          <a:p>
            <a:pPr lvl="4">
              <a:lnSpc>
                <a:spcPct val="110000"/>
              </a:lnSpc>
            </a:pPr>
            <a:r>
              <a:rPr lang="en-US" sz="1400" i="1" dirty="0" smtClean="0"/>
              <a:t>	</a:t>
            </a:r>
            <a:endParaRPr lang="en-US" sz="200" i="1" dirty="0"/>
          </a:p>
          <a:p>
            <a:pPr>
              <a:lnSpc>
                <a:spcPct val="110000"/>
              </a:lnSpc>
            </a:pPr>
            <a:r>
              <a:rPr lang="en-US" sz="2400" i="1" dirty="0" smtClean="0"/>
              <a:t>m </a:t>
            </a:r>
            <a:r>
              <a:rPr lang="en-US" sz="2400" dirty="0"/>
              <a:t>prefers </a:t>
            </a:r>
            <a:r>
              <a:rPr lang="en-US" sz="2400" i="1" dirty="0"/>
              <a:t>w </a:t>
            </a:r>
            <a:r>
              <a:rPr lang="en-US" sz="2400" dirty="0"/>
              <a:t>to </a:t>
            </a:r>
            <a:r>
              <a:rPr lang="en-US" sz="2400" i="1" dirty="0"/>
              <a:t>w’ 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i="1" dirty="0" smtClean="0"/>
              <a:t>m</a:t>
            </a:r>
            <a:r>
              <a:rPr lang="en-US" sz="2400" i="1" dirty="0"/>
              <a:t>’ </a:t>
            </a:r>
            <a:r>
              <a:rPr lang="en-US" sz="2400" dirty="0"/>
              <a:t>prefers </a:t>
            </a:r>
            <a:r>
              <a:rPr lang="en-US" sz="2400" i="1" dirty="0"/>
              <a:t>w’ </a:t>
            </a:r>
            <a:r>
              <a:rPr lang="en-US" sz="2400" dirty="0"/>
              <a:t>to </a:t>
            </a:r>
            <a:r>
              <a:rPr lang="en-US" sz="2400" i="1" dirty="0"/>
              <a:t>w</a:t>
            </a:r>
          </a:p>
          <a:p>
            <a:pPr>
              <a:lnSpc>
                <a:spcPct val="110000"/>
              </a:lnSpc>
            </a:pPr>
            <a:r>
              <a:rPr lang="en-US" sz="2400" i="1" dirty="0"/>
              <a:t>w </a:t>
            </a:r>
            <a:r>
              <a:rPr lang="en-US" sz="2400" dirty="0"/>
              <a:t>prefers </a:t>
            </a:r>
            <a:r>
              <a:rPr lang="en-US" sz="2400" i="1" dirty="0"/>
              <a:t>m’ </a:t>
            </a:r>
            <a:r>
              <a:rPr lang="en-US" sz="2400" dirty="0"/>
              <a:t>to </a:t>
            </a:r>
            <a:r>
              <a:rPr lang="en-US" sz="2400" i="1" dirty="0"/>
              <a:t>m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400" i="1" dirty="0" smtClean="0"/>
              <a:t>w</a:t>
            </a:r>
            <a:r>
              <a:rPr lang="en-US" sz="2400" i="1" dirty="0"/>
              <a:t>’ </a:t>
            </a:r>
            <a:r>
              <a:rPr lang="en-US" sz="2400" dirty="0"/>
              <a:t>prefers </a:t>
            </a:r>
            <a:r>
              <a:rPr lang="en-US" sz="2400" i="1" dirty="0"/>
              <a:t>m </a:t>
            </a:r>
            <a:r>
              <a:rPr lang="en-US" sz="2400" dirty="0"/>
              <a:t>to </a:t>
            </a:r>
            <a:r>
              <a:rPr lang="en-US" sz="2400" i="1" dirty="0"/>
              <a:t>m’</a:t>
            </a:r>
          </a:p>
          <a:p>
            <a:pPr lvl="4">
              <a:lnSpc>
                <a:spcPct val="110000"/>
              </a:lnSpc>
            </a:pPr>
            <a:endParaRPr lang="en-US" sz="1800" dirty="0" smtClean="0"/>
          </a:p>
          <a:p>
            <a:pPr>
              <a:lnSpc>
                <a:spcPct val="110000"/>
              </a:lnSpc>
            </a:pPr>
            <a:r>
              <a:rPr lang="en-US" sz="2400" dirty="0" smtClean="0"/>
              <a:t>Two </a:t>
            </a:r>
            <a:r>
              <a:rPr lang="en-US" sz="2400" dirty="0"/>
              <a:t>stable matches </a:t>
            </a:r>
            <a:r>
              <a:rPr lang="en-US" sz="2400" i="1" dirty="0"/>
              <a:t>{(</a:t>
            </a:r>
            <a:r>
              <a:rPr lang="en-US" sz="2400" i="1" dirty="0" err="1"/>
              <a:t>m,w</a:t>
            </a:r>
            <a:r>
              <a:rPr lang="en-US" sz="2400" i="1" dirty="0"/>
              <a:t>),(</a:t>
            </a:r>
            <a:r>
              <a:rPr lang="en-US" sz="2400" i="1" dirty="0" err="1"/>
              <a:t>m’,w</a:t>
            </a:r>
            <a:r>
              <a:rPr lang="en-US" sz="2400" i="1" dirty="0"/>
              <a:t>’)}</a:t>
            </a:r>
            <a:r>
              <a:rPr lang="en-US" sz="2400" dirty="0"/>
              <a:t> and </a:t>
            </a:r>
            <a:r>
              <a:rPr lang="en-US" sz="2400" i="1" dirty="0"/>
              <a:t>{(</a:t>
            </a:r>
            <a:r>
              <a:rPr lang="en-US" sz="2400" i="1" dirty="0" err="1"/>
              <a:t>m,w</a:t>
            </a:r>
            <a:r>
              <a:rPr lang="en-US" sz="2400" i="1" dirty="0"/>
              <a:t>’),(</a:t>
            </a:r>
            <a:r>
              <a:rPr lang="en-US" sz="2400" i="1" dirty="0" err="1"/>
              <a:t>m’,w</a:t>
            </a:r>
            <a:r>
              <a:rPr lang="en-US" sz="2400" i="1" dirty="0"/>
              <a:t>)}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First match is better for the men, second for the women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5F3EEA"/>
              </a:solidFill>
            </a:endParaRPr>
          </a:p>
          <a:p>
            <a:pPr lvl="4">
              <a:lnSpc>
                <a:spcPct val="110000"/>
              </a:lnSpc>
            </a:pPr>
            <a:endParaRPr lang="en-US" sz="1400" i="1" dirty="0" smtClean="0">
              <a:solidFill>
                <a:srgbClr val="5F3EEA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400" i="1" dirty="0" smtClean="0">
                <a:solidFill>
                  <a:srgbClr val="5F3EEA"/>
                </a:solidFill>
              </a:rPr>
              <a:t>Is </a:t>
            </a:r>
            <a:r>
              <a:rPr lang="en-US" sz="2400" i="1" dirty="0">
                <a:solidFill>
                  <a:srgbClr val="5F3EEA"/>
                </a:solidFill>
              </a:rPr>
              <a:t>there always a stable match</a:t>
            </a:r>
            <a:r>
              <a:rPr lang="en-US" sz="2400" i="1" dirty="0" smtClean="0">
                <a:solidFill>
                  <a:srgbClr val="5F3EEA"/>
                </a:solidFill>
              </a:rPr>
              <a:t>? How to find one?</a:t>
            </a:r>
            <a:endParaRPr lang="en-US" sz="2400" i="1" dirty="0">
              <a:solidFill>
                <a:srgbClr val="5F3EEA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Deferred </a:t>
            </a:r>
            <a:r>
              <a:rPr lang="en-US" sz="3600" dirty="0" smtClean="0"/>
              <a:t>Acceptance</a:t>
            </a:r>
            <a:endParaRPr lang="en-US" sz="36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33937"/>
          </a:xfrm>
        </p:spPr>
        <p:txBody>
          <a:bodyPr/>
          <a:lstStyle/>
          <a:p>
            <a:r>
              <a:rPr lang="en-US" sz="2600" dirty="0"/>
              <a:t>Men and women rank all potential partners</a:t>
            </a:r>
          </a:p>
          <a:p>
            <a:r>
              <a:rPr lang="en-US" sz="2600" b="1" dirty="0">
                <a:solidFill>
                  <a:srgbClr val="5F3EEA"/>
                </a:solidFill>
              </a:rPr>
              <a:t>Algorithm</a:t>
            </a:r>
          </a:p>
          <a:p>
            <a:pPr lvl="1"/>
            <a:r>
              <a:rPr lang="en-US" sz="2200" dirty="0"/>
              <a:t>Each man proposes to highest woman on his list</a:t>
            </a:r>
          </a:p>
          <a:p>
            <a:pPr lvl="1"/>
            <a:r>
              <a:rPr lang="en-US" sz="2200" dirty="0"/>
              <a:t>Women make a “tentative match” based on their preferred offer, and reject other offers, or all if none are acceptable.</a:t>
            </a:r>
          </a:p>
          <a:p>
            <a:pPr lvl="1"/>
            <a:r>
              <a:rPr lang="en-US" sz="2200" dirty="0"/>
              <a:t>Each rejected man removes woman from his list, and makes a new offer.</a:t>
            </a:r>
          </a:p>
          <a:p>
            <a:pPr lvl="1"/>
            <a:r>
              <a:rPr lang="en-US" sz="2200" dirty="0"/>
              <a:t>Continue until no more rejections or offers, at which point implement tentative matches.</a:t>
            </a:r>
          </a:p>
          <a:p>
            <a:r>
              <a:rPr lang="en-US" sz="2600" dirty="0"/>
              <a:t>This is the </a:t>
            </a:r>
            <a:r>
              <a:rPr lang="en-US" sz="2600" dirty="0">
                <a:solidFill>
                  <a:srgbClr val="4F8754"/>
                </a:solidFill>
              </a:rPr>
              <a:t>“man-proposing” version</a:t>
            </a:r>
            <a:r>
              <a:rPr lang="en-US" sz="2600" dirty="0"/>
              <a:t> of the algorithm; there is also a </a:t>
            </a:r>
            <a:r>
              <a:rPr lang="en-US" sz="2600" dirty="0">
                <a:solidFill>
                  <a:srgbClr val="4F8754"/>
                </a:solidFill>
              </a:rPr>
              <a:t>“woman proposing” version</a:t>
            </a:r>
            <a:r>
              <a:rPr lang="en-US" sz="26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68362"/>
          </a:xfrm>
        </p:spPr>
        <p:txBody>
          <a:bodyPr/>
          <a:lstStyle/>
          <a:p>
            <a:r>
              <a:rPr lang="en-US"/>
              <a:t>DA in pictures</a:t>
            </a:r>
          </a:p>
        </p:txBody>
      </p:sp>
      <p:pic>
        <p:nvPicPr>
          <p:cNvPr id="8807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524000"/>
            <a:ext cx="8667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74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19400"/>
            <a:ext cx="76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7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752600"/>
            <a:ext cx="8667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78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038600"/>
            <a:ext cx="8270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79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410200"/>
            <a:ext cx="13144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80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828800"/>
            <a:ext cx="13144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81" name="Picture 1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038600"/>
            <a:ext cx="8159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82" name="Picture 1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410200"/>
            <a:ext cx="7683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84" name="Picture 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410200"/>
            <a:ext cx="8159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85" name="Picture 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267200"/>
            <a:ext cx="8270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87" name="Picture 2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048000"/>
            <a:ext cx="76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088" name="Line 24"/>
          <p:cNvSpPr>
            <a:spLocks noChangeShapeType="1"/>
          </p:cNvSpPr>
          <p:nvPr/>
        </p:nvSpPr>
        <p:spPr bwMode="auto">
          <a:xfrm flipV="1">
            <a:off x="2057400" y="2209800"/>
            <a:ext cx="1752600" cy="1219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89" name="Line 25"/>
          <p:cNvSpPr>
            <a:spLocks noChangeShapeType="1"/>
          </p:cNvSpPr>
          <p:nvPr/>
        </p:nvSpPr>
        <p:spPr bwMode="auto">
          <a:xfrm flipV="1">
            <a:off x="2133600" y="3429000"/>
            <a:ext cx="1676400" cy="1066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90" name="Line 26"/>
          <p:cNvSpPr>
            <a:spLocks noChangeShapeType="1"/>
          </p:cNvSpPr>
          <p:nvPr/>
        </p:nvSpPr>
        <p:spPr bwMode="auto">
          <a:xfrm>
            <a:off x="2209800" y="2209800"/>
            <a:ext cx="1600200" cy="1066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91" name="Line 27"/>
          <p:cNvSpPr>
            <a:spLocks noChangeShapeType="1"/>
          </p:cNvSpPr>
          <p:nvPr/>
        </p:nvSpPr>
        <p:spPr bwMode="auto">
          <a:xfrm flipV="1">
            <a:off x="2286000" y="2362200"/>
            <a:ext cx="1524000" cy="3505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93" name="Line 29"/>
          <p:cNvSpPr>
            <a:spLocks noChangeShapeType="1"/>
          </p:cNvSpPr>
          <p:nvPr/>
        </p:nvSpPr>
        <p:spPr bwMode="auto">
          <a:xfrm>
            <a:off x="2133600" y="3429000"/>
            <a:ext cx="175260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94" name="Line 30"/>
          <p:cNvSpPr>
            <a:spLocks noChangeShapeType="1"/>
          </p:cNvSpPr>
          <p:nvPr/>
        </p:nvSpPr>
        <p:spPr bwMode="auto">
          <a:xfrm>
            <a:off x="2209800" y="2133600"/>
            <a:ext cx="1676400" cy="381000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95" name="Line 31"/>
          <p:cNvSpPr>
            <a:spLocks noChangeShapeType="1"/>
          </p:cNvSpPr>
          <p:nvPr/>
        </p:nvSpPr>
        <p:spPr bwMode="auto">
          <a:xfrm>
            <a:off x="2133600" y="4648200"/>
            <a:ext cx="1752600" cy="144780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96" name="Line 32"/>
          <p:cNvSpPr>
            <a:spLocks noChangeShapeType="1"/>
          </p:cNvSpPr>
          <p:nvPr/>
        </p:nvSpPr>
        <p:spPr bwMode="auto">
          <a:xfrm>
            <a:off x="2209800" y="2133600"/>
            <a:ext cx="1676400" cy="25146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8097" name="Picture 3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4191000"/>
            <a:ext cx="7683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https://encrypted-tbn0.gstatic.com/images?q=tbn:ANd9GcRL2YpPiTtmfvTT20C4iNJJ4jByrluUH_RXxIIjdIP81DrPmGi2lw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95" y="1592580"/>
            <a:ext cx="1369205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https://encrypted-tbn0.gstatic.com/images?q=tbn:ANd9GcRL2YpPiTtmfvTT20C4iNJJ4jByrluUH_RXxIIjdIP81DrPmGi2lw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845" y="5537200"/>
            <a:ext cx="1369205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data:image/jpeg;base64,/9j/4AAQSkZJRgABAQAAAQABAAD/2wCEAAkGBxQTEhUTEhQVFRUUGBcXGBcUFhUYFRYaFRUXGBUVFRUYHCggGBolHBQUITEhJSkrLi4uFx8zODMsNygtLisBCgoKDg0OGxAQGiwkHyQsLC8sLywsLCwsLCwsLCwsLCwsLCwsNCwsLCwsLCwsLCwsLCwsLCwsLCwsLCwsLCwsLP/AABEIANAAsAMBIgACEQEDEQH/xAAcAAACAgMBAQAAAAAAAAAAAAAEBQMGAQIHAAj/xABAEAABAwIDBAcFBgUEAgMAAAABAAIRAwQSITEFQVFhBhMicYGRoVKxwdHwBxQjMkLhYnKCkvEVM3OyosIWJEP/xAAZAQADAQEBAAAAAAAAAAAAAAACAwQBAAX/xAAmEQACAgICAgEEAwEAAAAAAAAAAQIRAyESMQRRQRMiYXEyM4EF/9oADAMBAAIRAxEAPwDhy8vLIC6jjAC3bTW7GI+2pJsMdip5OJHb2JKcW2zxwTLZlkCJO7zPIJw2yA8ASY3eZHFXY4QieZm8ibekJKNiJzEjhx5Ih1mXGXcJ00AGUDcBC6Z0W6ItBx1c45AMAkxJOpjcMk5r1qNKRRph7v1PdME74JBxfWanzf8AQwwdJWUYvB8jIrcqOSWvRmtUjBSPechnmBnr4JpR6H12gB7CBqcjJ5Dh3ro1HaVQ/mDRPePeM0wpVZ3RyjNTy89z6SRTHwFHttnGtoWz2TjBaBMDDAGW7M5d3BJm0Z0E92fou/XOz6dYFtRjXA6h3z1HmqB0i+ziowF9rUdUYJPVOA60DXsEZVOQyPen+P5MOpaEeR4s+47KAKYWlalktKlc6+B3GRuI3FR1a5hX840RKE7Fd9TSpzEyvHkoNjF5+Z2z1MVpA7gtVLVCiU7Ho8srC8sOJQFs1ZplYqORAhf3RSsohNX2+SH6mFc4KJCsrkBmkjLekpm0EwZaOG5bGu0BOfwxjsV40PI+QKvHRrYQrML3SKcAn+PPQHIAZc5lVPolsV91WFNrMh2nOzAa3eZ4nQeK6vWrYGw2G02DC3tNbiI34nbh46rzfK8hp0i7xvHi1bMX93To9guaXcCW9gbgGjIeSUdYx2ha8/wuaSpbSiQScLP6XGfA5BS3FqyplUYDHtAAjmHLzlbPSdIzagDIAtPAiD+6Y0qfDy4eHxEJb9yfTgsOJo/Q+Y7gdWnmm1m8PGUgjUH8zfmOadH8ipBFJGM/wVExn18VK0R9eqYAU7p90HZdtNai2LhozDYArDg4aF4jIrhzqJDi06jcciO8ag8ivqb65LlH2sdFcLvv1ACDlWbwMiH92s8E7Hla0IniT2cy+7AqCrYRoEXQue1DhBG7geB5o2g4OMKhfcIl9hVbqyduCCNErpFTZrSJSW+2YFs8VK7Mx5m3VFOIXg1O37PUQs4SaKHKhfTYvVWJr92UNeiuMsuNzacEC+2gpq64BQVw5X+TK46PM8KEoyqQy6O2LHVRj0ALu+N3mVb6paexhHDDAjuhc/tNomm6RHKfIg9/wTnY+1utr06ZJbic3UgGJExnnqfNQKetnrqEUy97Le23PUtEl2b4yif0zwE80u2jtFgqhpGKDAkgBo3AFx7XkiLu4aH4gw4ySZIiAfyjvhYOxWVs3A6zu155LyJTcpNnqQxKKQytOpjLAOWJp9GuMJiyh5fWh3KrVejpp/7YAnPJrQfQKazr3FEyHEj2XZt+fqihLezJ4dWmW+gyMj4E+4rNS1g4m5Eeixsu9bWbMYXaOZMxwg7xwKPHA+HMKtK0RO0zWg6RwI1Hy5LZR1XYe1uGvd+y3xStBMyorqg2ox1OoA5rgWuBzBBEGQtyfr3LV79/DUe9cdR81dLdjGzuXUZJaJwE64RoCd5AIE70vtdpYTnHeut/bBsbHSbXAzZkT5R5j/qFw+7PBUY5aEThui42u2BGZC9VvA7SFTrVpKbW8hHKbYMMaT0OX0xEpXeGEY2rlCGuqOIIYmzA21JCjxKb7sQEO9pCIBMYWW0ssyi318WirNuYR9K5jJc22jYxSYxrmUw6NYvvNEsgBtRpIESdxLt+hOegSfr51Vv6GWlIVMVZhDmjF23CQ0RmKcAtJJiXbp70mWouymNSaLfbUS0vxnE5mDM88WceATuwqZJU9rnV65AhuFka5luKYJ1/M1NbGkcivNa6o9ZP7dhwdK3FIFaMhTUyJRxFsFjqjibPz5J7QrCo0OG/MfL64Jfc02lpzA8Qgdj3YY808Qg5jPQhO5UxE48lfyPi5CWlwAcDsoyHw+XgpatTP1HxSu/OZI35j68F0pUJjGx0/wBQoH1N4+uKHt7zExr/AD+CxUdBkaHMLeRnEh2lbNrU30nZte0gdxHv0Xz7tHo4+m9zCPykiSRnB1X0GXTkNRmFRenFoG1BUiG1BruxD8w79D4pmDJToVmg2k0cyo7NwxkjH2ghF1yNyixpkns6K0DMpKbq1kvUL665TtmPHoldboa4tskXSqStqrZyTJypCseN2V2hY5Lf7iQnNtayQArFb9GcTZxJf1B/0UuyilrmEEGCNDwTLZ9eDOYG+HHE8nUk+qL23so0+cJDTfBXOVo1QSejs+xbouxVJ7Bt2uAiYdiDXHv5JNfdMaDSRTfUcW5HCC5rTGQLhkNDvUnQO7FW1qUzP4bXNOoJDnAtzHipP/hxY0i2b+G+C9jy1wJG849TnyUNJOpHoxbcbjV/n9G2y+mRJio1wE4TLSIIOYk5Hdod6uIeXMxN4JBb7D/D6upTaGgk4QYbnwDCB6e5WCk/DSaN8CUMqT10Ena3V/jopu2tqVGyMLnu3N4k6SdAEq2hty+taopmnbEnARha8tcHTJbUnKNCV0C7sBVYWwIJk5Z+B3JM3oswcSOYCZjcY9qwMrc9J1/hYLbaIq0WVG8AeYnUd+oUV1UkR4j4j4oehSFIYdAdyjquJBG8ZjnwPwSpy+DFjMbJu4c9h0Of16+SZNq5Fu8Zj4j64qq3Fctfi4Q4cwTmPCCndStBY8aHf4D4e5BDJ8G5MXyMqRkA7wYPw+IQXSrZX3m2qUx+aMbDGj25gjvggoy0cA7+F2R7jp5I9zIy+v3VEfZLJHznTrO/UDOhB3HgpmlXD7QOjop1evpj8Osc40a/ePHVVQ01Q5JqxSTAK1QhBtuJKbV7cQltS2goo0dKw+0cUaHJZbVNyIe4rGrNWifZNwMefJdL2bTlsrj9rVhyveydqZRJWpI2WzXpc0R5rn9Jsu+WuekK77crhypFVwBK4yqRf/s2uHF9RpMNFNwDR+VsFh8SZzK6Xs+sMK4/0JuSG1zTBdVBt2DWPxKvaGEcm5nvXR2XPVkscc2nzG4937qbNplni1OLj8jPaFb1yU9Zv4bY4BKfvJeDgguGgJgea1p7aeRgLCCIGbXRP80JVopWN/A2oXIGqLDw7PcgbOg8magaBGQaZmdUJeY6bpaC5p1A1HgtTpAcU3Vm+3H5y3d8EC6oHNB1y04jRzVrfV8bQRnPp3oXZ7ThLfEd+8JU3bH8EoGt9TxCeEznEggYvn4lF7DqY6RYTm3Q/wAuh8sl40wR35Hx0P1xQ9g7q60aaT8xySlp2BLcaLDZ/lg/XBO2jEyd4yPhv+uKVU6cEHcfqE1tHwe/I/BWY/TPOyexVtOybWpupv0dr/C7c4LjG27d1CoabhBGnOF3naVvhOIDL3j5rnn2j7DFWkK7AMTQZO/x4g6ciBxKNadMG9Wc6ZcjehrrtHJLuuMwciNQnFiyVVVIVdkFK0cvVCWqxMtxCT7RpwsUjZxaQngynOz7xwCBu6WEqW3qQhyaG4fu2F31ySFXbp2eW71PBM7yvOS3tdmmoWiC47mj6jxK3EvYvyZJaQX0Iverc9xAc1gp1CHNa6erqYiA12RfBMToc117bbGXFKjcM/UxpMOxHDUaHAHmJI8CuaUdmBhaSQRmCGfkgiHNaQO1rGLllxXRujNakbanTLwOqpOc6m15aAxjgHY5ynJsDPIuzWZUpJo7xpyg1P0L7PDQa4vJgGS7N3dAbJRA6YWQ7Lqjs+FN8HlmFoCx5cGua9uYlsxn3wUPT2XUGTKjg32SA4eZz9VCtPZ7kFjmrkw236XNfPVUKzwNHEYQecnRHWNStWk1Gtot3BpxVDzJIho7s0Ps7YxBBeXvjTEYaP6RkngpwEbp9CsssS1Bf6Kq9EDLeXT6Del1c4XiOM+sprtK4a0FxIACQspuqS/Nrd06n5Kd9mx/jsIp3rOtDAc3NLmg/raD22j+JqlvmCWvPGJHA/lPlM82qm7XxOxsYS2pRIrUXDVsR1gHgA7zVx2Lf07mmBOcNxZRhcRJIHDEHQeR4ouKaESlTLBs52JkHcPNMaLpGfikOx3lhwOEQcuUagceSduy7Q8eadDokn2MqLg9vVu11BO/60Kr19blhLHThfIz0nn5+5Mus4GCN+pEb/rVS31IV6Z9oDMcQN4+CN/cvyAtP8HzttrYpo3L2EdgHsH2QdGHfA3J1sfZJcYGu9NunFmBWZUOTnNz54YBTHoRUYQ5xgxEfEpqm5JDceCKi5MBudivYJ18IVY2nQldZvarS0grmO08y6OaJ6OlG0QbRsJGiQvYW5FdCp2shVzbFlEoW7EYpVoQ7PsqlV+Gmxz3a4WNJMDfHD5q6bF6LXW+3qCfahoPIyRIQ32cXBo3g4VGmmee9vqPVdadVO5Gp/COlit2ysM6FVXwatVrY0DQXRy3AdwCZbM6Ktty54qz2Hsdia2MLxnM9wPgndIlZuswWHMEZoX7NS+CoUWWtIFtAOcXZAlziTGkN0TKheBjsNQQQlLNjOtq2PNzJ7BP6RwPMcVnbNXE4ZmQWzBjJ06qbIqjyZbikuXH4LRT2g3cl9/tYThZ2nbmt95O7xVau7c5dp8H+Ix3JvZABoAgDkISufJUNcIxdoiNsXuBqmY0aPyjmeJRF0YG6IW5MfND3hluR0B1WVSNbbZS9rvLKgqt/NIInQx+k8jJB71JRqGhUD6M4Hw5oMnKTLDvkTB7gUXT2WaxxEHAw/3Hf4KOnQBxUiYBM03HLA6Ik8Gns+Ila1UbF3cmi87LvGXVMVqRlzcnt38e0BvEHPeD3J1b1A5sjuIPxjULl2yH1LW5xMlgfqNwOWThvGULpFpXDwKjOy79Te/XvGXqjhNMmyQaJ6rCO03Ua8xu9+vNbWlbe3LiOHctmVxE7vMDxG5Z6oSSP3/dH+RYDtbYdvdiKrCXQcJa4tc2YxRGRBgGCFSto9E37Pp1K7LgPps7RY5pa8NnPtCQ46cFfOrdILdRn9csvVIftSvY2XWd7fVsHe6oJHoU7G70c5OK0yjVulGIQ0kk+SApVAfFVEXRAlGbN2iS6EU4M6GddM6Js6vISvbjwhqF4WjPJJ9rbRJnNa4kuOZFQ2j1dQPGrHBw/pMx9cV3SwrB7GvaZa4Bw7iJ+K+aalyuo/Zn0kBt+qe7tUjGfsnNpHqPBC48dlsXz+06i2pCHrVpKR3O2RGRRmw64q089xIPofcUEpWtGxhXY0o1xoQCOaW7R6L0quN1GoaT3xIdLmSNDGrfDyRrrRwzbmsNcRrkgq1TC6dxF7+jlfBBa1/NjgR6wVmjsesBmx3lPuTilcRvRDb7mhWCHsJ5sggfZunNrh3grX/T3VThaIbvPyVk/wBQ5rdt1P8AhH9JewHll6EdWyFJuFgHcfWCqXWtSXOcBvOR0ORyPLNdQrtYWkva2AM5G5VK8oAtxNbhxhxA/p/wl+TqNHYXu2KBRD2tdrh0O+NIPGNFY9lsgZHccxzEhJNkUiS9h4Zd4hWGgIE8Rl4j/Kkx+xuT0YFbt8HcRo7vamFu2c8xy3eHBJ69XCA7QuBAO4cyvWW1XsgEhw4HUf1b1TjkvkW4NrQ+bbbwSO5Uv7VaBfZ06R1fXxeDWPMZc3BXShf03AEGOTsj8lXOl/4j2t1DAfN0fABVxrtCGn0zjVbZZAzCFsbEh6vG07UBK6VASuc2jfpJoO2js6ASqffWROq6leWTqhFOm3E95gAQPM7hzTK26J2tuB1wbd1t7SP/AK7Dzaf9zxnuCL6lLZLHE3KonKtgfZ9cXTOtGCjRy/FrFwDv+JoBNQ92XNPtkfZ9UoVA9t00jQjqndof3clf6ralR2J5nhwA4NGgHIKelbwkTzN6R6EMKhtvYhtuj5/UcXfp5Kw7JtOrYcgATkAOGU+5b0KZJhMX08oQQjewsmT4CbdFdQ12oHkkj2VaebHYhwfJHgdVin0mDTFWi8c2Q4esFNjJLsS4t7Q1q7JYdJHchzsX+IlTW+37d3/6AfzS0+IKPo3THflc09xCOkweU0LqezQES23A3ItyXX90QIaJJ0HxPJdpA22K9uXYP4TTOYxR7u9R39POmNAGO/8AUBep2OD82pMknXmVNtHOD/D6CJ9YUubY2GhNaUf90jUNcfED9kwuX5MPtH3gH4qGyb2a54B3qGx6kr20zBpt3iPc1ISqI17kR1hNPud8wfeFrRB3BTURLXjWDPn9eiZUKQgIuNhKVIWkHNQ3Fti3eSemiFC+1jROhcTG0+ygdK9m1KLG1CJY4wHDSfZcNx98KnW90cW9dj2w8VaDrepmx4IPLgRzBzC4nQsn06rmOObSWngY3j0PinxcZInmpxa9HW7bIyDBdlI1DRuHf8EwYBEBLRVzbHsDzKLp1FLkl9xVjhUEMKdMLNUgBaCsAF60aXvjcMz8FkdukY9K2G2FvAk6n6CkeM0VhgIcjNWJVokbt2T4ckO+zadQPJGNXoXcUzroXnZNP2Qtf9Ep8x6e5M4WZXcUdyYBT2bh0qVP73fNEdmmMznxObj5qC+uABm6O4pFXrb5McsyUnJkUdIZGDl2GXlzMnMNGZnfG5bbSeIz9kE8gf8ACUGviInstbu1mdBzK3qVTVdG9xA7hp8/JTcrGcaD7SnFEB363tJ7hBPuQdftVQTwnzJ+Y8kzuxmGjRojxOvwS5o7TjyPo4/sul3R0fZmyfD53HLvmfkfNMqBjI7voFI6M9SIydgDh3h3zCbWtXGA4f4RR7OfsYMcs1SFGJCw8pxi2K78LnHSG2w3GL2wD4tyPphXS7lsqm9K7bstfvY70cIPqGoE6kPaTgGbJrYmU3e0xh/8U2Y5V/YR/Aof8VP/AKhHXV1hae5KyfzY2EbhH9IZ0amKTuCsOyKENk6uz+QVb2HRLmsbxzPv+Q8Vc2NgJ/jx1yJfJlT4mHqFoU5WjgqSY3YpQ1R01MtBZq4KF5RBKjeuOAH2DDmQEr2xbQ0lmWWnFPiFFUpSlSxxYyM2mUQuJAxQCdwdJz1HBNNhOGMuOYpgnvIER5o/aWzZghodrlCXUiGA04LcQz+iVG48HsptTWg9rj2Z1dPzKjtGy5wPE+WU/FeqOiHeyMlr1mEio3MEgEefzQ9MytEdnTIY1rtQIPfKIsj1L4I7J1HDuW9VoyLdDogKN3Li06j5+/MJl8TYR5JlqqUwW5d45jggKhQtC7LRhObd3JedXxb4nfu7+adKSYEYOOjNUKr9JG/hv5NJ8s/grQ9INsCWu5gj0SZutlONXoR7HqfgUP8AiZ/1C32s7sEhA9GXTa0OIZh/tJCbPpy0ocn9j/Y/FrHH9Fr6J05YH8dO4fXorIlXR216uhSZwYPMiT700CuhHjFI8rLLlNsyAtXhbrBCMUepqVRhbgrjjBWhUhWjguONVq5q2W0LjQZ7CgHbPkkkaac04axYcEEoKXYSm10Vi5pkA8kvo3BYYIyOqs95azJ4/BIb60IOSjyYmtopxzT0zFC+DXEESx2oO7mOIXq1i3rOsY4drQHLTcHaO8c0s0J3R9Qhdm7UcKtSmQHMmcJ0EATHmgjO9Mp+k0uUSztadCCozbcDClt3tIynxUsJiQuyEvIEOHilG1xAd3J3VCr+3nxTf/K4+hQZBuHs/9k="/>
          <p:cNvSpPr>
            <a:spLocks noChangeAspect="1" noChangeArrowheads="1"/>
          </p:cNvSpPr>
          <p:nvPr/>
        </p:nvSpPr>
        <p:spPr bwMode="auto">
          <a:xfrm>
            <a:off x="155574" y="-144463"/>
            <a:ext cx="1737037" cy="173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GwynethPaltrowByAndreaRaffin2011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512" y="2777616"/>
            <a:ext cx="969658" cy="1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GwynethPaltrowByAndreaRaffin2011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917" y="2964433"/>
            <a:ext cx="969658" cy="115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52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88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88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88" grpId="0" animBg="1"/>
      <p:bldP spid="88088" grpId="1" animBg="1"/>
      <p:bldP spid="88089" grpId="0" animBg="1"/>
      <p:bldP spid="88089" grpId="1" animBg="1"/>
      <p:bldP spid="88090" grpId="0" animBg="1"/>
      <p:bldP spid="88090" grpId="1" animBg="1"/>
      <p:bldP spid="88091" grpId="0" animBg="1"/>
      <p:bldP spid="88093" grpId="0" animBg="1"/>
      <p:bldP spid="88094" grpId="0" animBg="1"/>
      <p:bldP spid="88094" grpId="1" animBg="1"/>
      <p:bldP spid="88095" grpId="0" animBg="1"/>
      <p:bldP spid="8809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Stable matchings exist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1" charset="2"/>
              <a:buNone/>
            </a:pPr>
            <a:r>
              <a:rPr lang="en-US" sz="2600" b="1">
                <a:solidFill>
                  <a:srgbClr val="5F3EEA"/>
                </a:solidFill>
              </a:rPr>
              <a:t>Theorem.</a:t>
            </a:r>
            <a:r>
              <a:rPr lang="en-US" sz="2600" b="1"/>
              <a:t> </a:t>
            </a:r>
            <a:r>
              <a:rPr lang="en-US" sz="2600"/>
              <a:t>The outcome of the DA algorithm is a stable one-to-one matching (so a stable match exists).</a:t>
            </a:r>
          </a:p>
          <a:p>
            <a:pPr>
              <a:lnSpc>
                <a:spcPct val="80000"/>
              </a:lnSpc>
            </a:pPr>
            <a:endParaRPr lang="en-US" sz="2600"/>
          </a:p>
          <a:p>
            <a:pPr>
              <a:lnSpc>
                <a:spcPct val="80000"/>
              </a:lnSpc>
              <a:buFont typeface="Wingdings" pitchFamily="1" charset="2"/>
              <a:buNone/>
            </a:pPr>
            <a:r>
              <a:rPr lang="en-US" sz="2600" b="1"/>
              <a:t>Proof.</a:t>
            </a:r>
          </a:p>
          <a:p>
            <a:r>
              <a:rPr lang="en-US" sz="2400"/>
              <a:t>Algorithm must end in a finite number of rounds.</a:t>
            </a:r>
          </a:p>
          <a:p>
            <a:r>
              <a:rPr lang="en-US" sz="2400"/>
              <a:t>Suppose </a:t>
            </a:r>
            <a:r>
              <a:rPr lang="en-US" sz="2400" i="1"/>
              <a:t>m, w </a:t>
            </a:r>
            <a:r>
              <a:rPr lang="en-US" sz="2400"/>
              <a:t>are matched, but </a:t>
            </a:r>
            <a:r>
              <a:rPr lang="en-US" sz="2400" i="1"/>
              <a:t>m </a:t>
            </a:r>
            <a:r>
              <a:rPr lang="en-US" sz="2400"/>
              <a:t>prefers </a:t>
            </a:r>
            <a:r>
              <a:rPr lang="en-US" sz="2400" i="1"/>
              <a:t>w’</a:t>
            </a:r>
            <a:r>
              <a:rPr lang="en-US" sz="2400"/>
              <a:t>.</a:t>
            </a:r>
          </a:p>
          <a:p>
            <a:pPr lvl="1"/>
            <a:r>
              <a:rPr lang="en-US" sz="2200"/>
              <a:t>At some point, </a:t>
            </a:r>
            <a:r>
              <a:rPr lang="en-US" sz="2200" i="1"/>
              <a:t>m </a:t>
            </a:r>
            <a:r>
              <a:rPr lang="en-US" sz="2200"/>
              <a:t>proposed to </a:t>
            </a:r>
            <a:r>
              <a:rPr lang="en-US" sz="2200" i="1"/>
              <a:t>w’ </a:t>
            </a:r>
            <a:r>
              <a:rPr lang="en-US" sz="2200"/>
              <a:t>and was rejected.</a:t>
            </a:r>
          </a:p>
          <a:p>
            <a:pPr lvl="1"/>
            <a:r>
              <a:rPr lang="en-US" sz="2200"/>
              <a:t>At that point, </a:t>
            </a:r>
            <a:r>
              <a:rPr lang="en-US" sz="2200" i="1"/>
              <a:t>w’</a:t>
            </a:r>
            <a:r>
              <a:rPr lang="en-US" sz="2200"/>
              <a:t> preferred her tentative match to </a:t>
            </a:r>
            <a:r>
              <a:rPr lang="en-US" sz="2200" i="1"/>
              <a:t>m</a:t>
            </a:r>
            <a:r>
              <a:rPr lang="en-US" sz="2200"/>
              <a:t>.</a:t>
            </a:r>
          </a:p>
          <a:p>
            <a:pPr lvl="1"/>
            <a:r>
              <a:rPr lang="en-US" sz="2200"/>
              <a:t>As algorithm goes forward, </a:t>
            </a:r>
            <a:r>
              <a:rPr lang="en-US" sz="2200" i="1"/>
              <a:t>w’ </a:t>
            </a:r>
            <a:r>
              <a:rPr lang="en-US" sz="2200"/>
              <a:t>can only do better.</a:t>
            </a:r>
          </a:p>
          <a:p>
            <a:pPr lvl="1"/>
            <a:r>
              <a:rPr lang="en-US" sz="2200"/>
              <a:t>So </a:t>
            </a:r>
            <a:r>
              <a:rPr lang="en-US" sz="2200" i="1"/>
              <a:t>w’ </a:t>
            </a:r>
            <a:r>
              <a:rPr lang="en-US" sz="2200"/>
              <a:t>prefers her final match to </a:t>
            </a:r>
            <a:r>
              <a:rPr lang="en-US" sz="2200" i="1"/>
              <a:t>m.</a:t>
            </a:r>
          </a:p>
          <a:p>
            <a:r>
              <a:rPr lang="en-US" sz="2400"/>
              <a:t>Therefore, there are</a:t>
            </a:r>
            <a:r>
              <a:rPr lang="en-US" sz="2400" i="1"/>
              <a:t> NO BLOCKING PAIRS.</a:t>
            </a:r>
            <a:r>
              <a:rPr lang="en-US" sz="240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642937"/>
          </a:xfrm>
        </p:spPr>
        <p:txBody>
          <a:bodyPr/>
          <a:lstStyle/>
          <a:p>
            <a:r>
              <a:rPr lang="en-US" sz="2400" dirty="0" smtClean="0"/>
              <a:t>Preferences of men and women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400" dirty="0"/>
              <a:t>		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256767"/>
              </p:ext>
            </p:extLst>
          </p:nvPr>
        </p:nvGraphicFramePr>
        <p:xfrm>
          <a:off x="762000" y="2514600"/>
          <a:ext cx="7772400" cy="18859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86200"/>
                <a:gridCol w="388620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m1:  w1  &gt;  w2  &gt;  w3</a:t>
                      </a:r>
                      <a:endParaRPr lang="en-US" sz="24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/>
                        <a:t> w1: m2  &gt;  m3  &gt;  m1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m2:  w3  &gt;  w2  &gt;  w1</a:t>
                      </a:r>
                      <a:endParaRPr lang="en-US" sz="24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/>
                        <a:t> w2: m2  &gt;  m3  &gt;  m1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m3:  w3  &gt;  w1  &gt;  w2 </a:t>
                      </a:r>
                      <a:endParaRPr lang="en-US" sz="24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 w3: m2  &gt;  m1  &gt;  m3</a:t>
                      </a:r>
                      <a:endParaRPr lang="en-US" sz="2400" b="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4953000"/>
            <a:ext cx="82296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1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1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1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1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1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1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1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1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1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 smtClean="0"/>
              <a:t>Find a stable matching.</a:t>
            </a:r>
          </a:p>
          <a:p>
            <a:pPr marL="0" indent="0">
              <a:buFont typeface="Wingdings" pitchFamily="1" charset="2"/>
              <a:buNone/>
            </a:pPr>
            <a:r>
              <a:rPr lang="en-US" sz="2000" dirty="0" smtClean="0"/>
              <a:t>		</a:t>
            </a:r>
            <a:r>
              <a:rPr lang="en-US" sz="2400" dirty="0" smtClean="0"/>
              <a:t>				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 bldLvl="2"/>
      <p:bldP spid="6" grpId="0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Aside: the roommate problem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815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600"/>
              <a:t>Suppose a group of students are to be matched to roommates, two in each room.</a:t>
            </a:r>
          </a:p>
          <a:p>
            <a:pPr>
              <a:spcAft>
                <a:spcPct val="20000"/>
              </a:spcAft>
            </a:pPr>
            <a:r>
              <a:rPr lang="en-US" sz="2600">
                <a:solidFill>
                  <a:srgbClr val="0000FF"/>
                </a:solidFill>
              </a:rPr>
              <a:t>Example with four students</a:t>
            </a:r>
          </a:p>
          <a:p>
            <a:pPr lvl="1">
              <a:spcAft>
                <a:spcPct val="20000"/>
              </a:spcAft>
            </a:pPr>
            <a:r>
              <a:rPr lang="en-US" sz="2200"/>
              <a:t>A prefers B&gt;C&gt;D</a:t>
            </a:r>
          </a:p>
          <a:p>
            <a:pPr lvl="1">
              <a:spcAft>
                <a:spcPct val="20000"/>
              </a:spcAft>
            </a:pPr>
            <a:r>
              <a:rPr lang="en-US" sz="2200"/>
              <a:t>B prefers C&gt;A&gt;D</a:t>
            </a:r>
          </a:p>
          <a:p>
            <a:pPr lvl="1">
              <a:spcAft>
                <a:spcPct val="20000"/>
              </a:spcAft>
            </a:pPr>
            <a:r>
              <a:rPr lang="en-US" sz="2200"/>
              <a:t>C prefers A&gt;B&gt;D</a:t>
            </a:r>
          </a:p>
          <a:p>
            <a:pPr lvl="1">
              <a:spcAft>
                <a:spcPct val="20000"/>
              </a:spcAft>
            </a:pPr>
            <a:r>
              <a:rPr lang="en-US" sz="2200">
                <a:solidFill>
                  <a:srgbClr val="FF0000"/>
                </a:solidFill>
              </a:rPr>
              <a:t>No stable match exists</a:t>
            </a:r>
            <a:r>
              <a:rPr lang="en-US" sz="2200"/>
              <a:t>: whoever is paired with D wants to change and can find a willing partner.</a:t>
            </a:r>
          </a:p>
          <a:p>
            <a:pPr>
              <a:spcAft>
                <a:spcPct val="20000"/>
              </a:spcAft>
            </a:pPr>
            <a:r>
              <a:rPr lang="en-US" sz="2600"/>
              <a:t>So stability in matching markets is not a given, even if each match involves just two people.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stability?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20000"/>
              </a:spcAft>
            </a:pPr>
            <a:r>
              <a:rPr lang="en-US" sz="2600" dirty="0"/>
              <a:t>Stability seems to explain at least in part why some mechanisms have stayed in use.</a:t>
            </a:r>
          </a:p>
          <a:p>
            <a:pPr lvl="1">
              <a:spcAft>
                <a:spcPct val="20000"/>
              </a:spcAft>
            </a:pPr>
            <a:r>
              <a:rPr lang="en-US" sz="2200" dirty="0"/>
              <a:t>If a market results in stable outcomes, there is no incentive for re-contracting.</a:t>
            </a:r>
          </a:p>
          <a:p>
            <a:pPr lvl="1">
              <a:spcAft>
                <a:spcPct val="20000"/>
              </a:spcAft>
            </a:pPr>
            <a:r>
              <a:rPr lang="en-US" sz="2200" dirty="0" smtClean="0"/>
              <a:t>We will see in the next class that the clearinghouses using the Deferred Acceptance algorithm have fared pretty well. </a:t>
            </a:r>
            <a:endParaRPr lang="en-US" sz="2200" dirty="0"/>
          </a:p>
          <a:p>
            <a:pPr lvl="1">
              <a:spcAft>
                <a:spcPct val="20000"/>
              </a:spcAft>
            </a:pPr>
            <a:r>
              <a:rPr lang="en-US" sz="2200" dirty="0" smtClean="0"/>
              <a:t>Other clearinghouses that use </a:t>
            </a:r>
            <a:r>
              <a:rPr lang="en-US" sz="2200" dirty="0"/>
              <a:t>unstable matching mechanisms </a:t>
            </a:r>
            <a:r>
              <a:rPr lang="en-US" sz="2200" dirty="0" smtClean="0"/>
              <a:t>seem to have failed more often.</a:t>
            </a:r>
            <a:endParaRPr lang="en-US" sz="2200" dirty="0"/>
          </a:p>
          <a:p>
            <a:pPr>
              <a:spcAft>
                <a:spcPct val="20000"/>
              </a:spcAft>
            </a:pPr>
            <a:r>
              <a:rPr lang="en-US" sz="2600" dirty="0" smtClean="0"/>
              <a:t>But does one need an organized clearinghouse?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Decentralized market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/>
              <a:t>What if there is no clearinghouse?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Men make offers to women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Women consider their offers, perhaps some accept and some reject.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Men make further offers, etc..</a:t>
            </a: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/>
              <a:t>What kind of problems can arise?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Maybe </a:t>
            </a:r>
            <a:r>
              <a:rPr lang="en-US" sz="2200" i="1" dirty="0"/>
              <a:t>w </a:t>
            </a:r>
            <a:r>
              <a:rPr lang="en-US" sz="2200" dirty="0"/>
              <a:t>holds </a:t>
            </a:r>
            <a:r>
              <a:rPr lang="en-US" sz="2200" i="1" dirty="0"/>
              <a:t>m</a:t>
            </a:r>
            <a:r>
              <a:rPr lang="en-US" sz="2200" dirty="0"/>
              <a:t>’s offer for a long time, and then rejects it, but only after market has cleared.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Maybe </a:t>
            </a:r>
            <a:r>
              <a:rPr lang="en-US" sz="2200" i="1" dirty="0"/>
              <a:t>m </a:t>
            </a:r>
            <a:r>
              <a:rPr lang="en-US" sz="2200" dirty="0"/>
              <a:t>makes exploding offer to </a:t>
            </a:r>
            <a:r>
              <a:rPr lang="en-US" sz="2200" i="1" dirty="0"/>
              <a:t>w </a:t>
            </a:r>
            <a:r>
              <a:rPr lang="en-US" sz="2200" dirty="0"/>
              <a:t>and she has to decide before knowing her other options.</a:t>
            </a: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>
                <a:solidFill>
                  <a:srgbClr val="FF0000"/>
                </a:solidFill>
              </a:rPr>
              <a:t>N</a:t>
            </a:r>
            <a:r>
              <a:rPr lang="en-US" sz="2600" dirty="0" smtClean="0">
                <a:solidFill>
                  <a:srgbClr val="FF0000"/>
                </a:solidFill>
              </a:rPr>
              <a:t>o </a:t>
            </a:r>
            <a:r>
              <a:rPr lang="en-US" sz="2600" dirty="0">
                <a:solidFill>
                  <a:srgbClr val="FF0000"/>
                </a:solidFill>
              </a:rPr>
              <a:t>guarantee the market will be </a:t>
            </a:r>
            <a:r>
              <a:rPr lang="en-US" sz="2600" dirty="0" smtClean="0">
                <a:solidFill>
                  <a:srgbClr val="FF0000"/>
                </a:solidFill>
              </a:rPr>
              <a:t>“orderly”…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clinical psychology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Clinical psychologists are employed as interns after they complete their doctoral degrees. About 500 sites offer 2,000 positions each year. Clears with one day market.</a:t>
            </a: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On selection day, market opens at 9 am, closes at 4 pm.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 smtClean="0"/>
              <a:t>While market is open, offers will be made and accepted according to a version of the DA algorithm, but a human version where people make phone calls.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O</a:t>
            </a:r>
            <a:r>
              <a:rPr lang="en-US" sz="2200" dirty="0" smtClean="0"/>
              <a:t>ffers can be accepted early and programs often ask students to indicate in advance their willingness to accept an offer. (You’ll see why.)</a:t>
            </a: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Roth and Xing (1994) describe a site visit in 1993.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8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clinical psychology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19263"/>
            <a:ext cx="8534400" cy="4411662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/>
              <a:t>Program had 5 positions, 71 applicants, 29 interviews,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/>
              <a:t>D</a:t>
            </a:r>
            <a:r>
              <a:rPr lang="en-US" sz="2000" dirty="0" smtClean="0"/>
              <a:t>irectors had ranked 20, and knew 6 would say yes if asked. Their strategy: “don’t tie up offers with people who will hold them”.</a:t>
            </a: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400" dirty="0" smtClean="0">
                <a:solidFill>
                  <a:srgbClr val="00CCFF"/>
                </a:solidFill>
              </a:rPr>
              <a:t>Timeline on selection day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At 9:00, calls placed to candidates 1,2,3,5,12  ---- 3,5,12 accept.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Candidate 1 reached at 9.05, holds until 9.13, rejects.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In the interim, candidate 8 calls, says she will accept.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When 1 rejects, call placed to 8, who accepts.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While call is in progress, 2 calls to reject. 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Call placed to 10 (who’d indicated acceptance), accepts at 9.21.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000" dirty="0" smtClean="0"/>
              <a:t>By 9.35, remaining candidates informed of non-offer.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8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uiExpand="1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Optimal stable matchings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7577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400" dirty="0"/>
              <a:t>A stable matching is </a:t>
            </a:r>
            <a:r>
              <a:rPr lang="en-US" sz="2400" i="1" dirty="0"/>
              <a:t>man-optimal </a:t>
            </a:r>
            <a:r>
              <a:rPr lang="en-US" sz="2400" dirty="0"/>
              <a:t>if every man prefers his partner to any partner he could possibly have in a stable matching.</a:t>
            </a:r>
          </a:p>
          <a:p>
            <a:pPr>
              <a:spcAft>
                <a:spcPct val="20000"/>
              </a:spcAft>
            </a:pPr>
            <a:endParaRPr lang="en-US" sz="1500" b="1" dirty="0"/>
          </a:p>
          <a:p>
            <a:pPr>
              <a:spcAft>
                <a:spcPct val="20000"/>
              </a:spcAft>
              <a:buFont typeface="Wingdings" pitchFamily="1" charset="2"/>
              <a:buNone/>
            </a:pPr>
            <a:r>
              <a:rPr lang="en-US" sz="2400" b="1" dirty="0">
                <a:solidFill>
                  <a:srgbClr val="5F3EEA"/>
                </a:solidFill>
              </a:rPr>
              <a:t>Theorem.</a:t>
            </a:r>
            <a:r>
              <a:rPr lang="en-US" sz="2400" b="1" dirty="0"/>
              <a:t> </a:t>
            </a:r>
            <a:r>
              <a:rPr lang="en-US" sz="2400" dirty="0"/>
              <a:t>The man-proposing DA algorithm results in a man-optimal stable matching. </a:t>
            </a:r>
          </a:p>
          <a:p>
            <a:pPr>
              <a:spcAft>
                <a:spcPct val="20000"/>
              </a:spcAft>
              <a:buFont typeface="Wingdings" pitchFamily="1" charset="2"/>
              <a:buNone/>
            </a:pPr>
            <a:endParaRPr lang="en-US" sz="1500" dirty="0"/>
          </a:p>
          <a:p>
            <a:pPr>
              <a:spcAft>
                <a:spcPct val="20000"/>
              </a:spcAft>
            </a:pPr>
            <a:r>
              <a:rPr lang="en-US" sz="2400" dirty="0"/>
              <a:t>This matching is also woman-</a:t>
            </a:r>
            <a:r>
              <a:rPr lang="en-US" sz="2400" dirty="0" err="1"/>
              <a:t>pessimal</a:t>
            </a:r>
            <a:r>
              <a:rPr lang="en-US" sz="2400" dirty="0"/>
              <a:t> (each woman gets worst outcome in any stable matching).</a:t>
            </a:r>
          </a:p>
          <a:p>
            <a:pPr>
              <a:spcAft>
                <a:spcPct val="20000"/>
              </a:spcAft>
            </a:pPr>
            <a:r>
              <a:rPr lang="en-US" sz="2400" dirty="0"/>
              <a:t>Note: the same result holds for woman-proposing </a:t>
            </a:r>
            <a:r>
              <a:rPr lang="en-US" sz="2400" dirty="0" smtClean="0"/>
              <a:t>DA </a:t>
            </a:r>
            <a:r>
              <a:rPr lang="en-US" sz="2400" dirty="0"/>
              <a:t>with everything flipped.</a:t>
            </a:r>
            <a:endParaRPr lang="en-US" sz="24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101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100" dirty="0"/>
              <a:t>Say that </a:t>
            </a:r>
            <a:r>
              <a:rPr lang="en-US" sz="2100" i="1" dirty="0" smtClean="0"/>
              <a:t>w </a:t>
            </a:r>
            <a:r>
              <a:rPr lang="en-US" sz="2100" dirty="0"/>
              <a:t>is </a:t>
            </a:r>
            <a:r>
              <a:rPr lang="en-US" sz="2100" b="1" i="1" dirty="0"/>
              <a:t>possible</a:t>
            </a:r>
            <a:r>
              <a:rPr lang="en-US" sz="2100" i="1" dirty="0"/>
              <a:t> </a:t>
            </a:r>
            <a:r>
              <a:rPr lang="en-US" sz="2100" dirty="0"/>
              <a:t>for </a:t>
            </a:r>
            <a:r>
              <a:rPr lang="en-US" sz="2100" i="1" dirty="0"/>
              <a:t>m </a:t>
            </a:r>
            <a:r>
              <a:rPr lang="en-US" sz="2100" dirty="0"/>
              <a:t>if </a:t>
            </a:r>
            <a:r>
              <a:rPr lang="en-US" sz="2100" i="1" dirty="0"/>
              <a:t>(</a:t>
            </a:r>
            <a:r>
              <a:rPr lang="en-US" sz="2100" i="1" dirty="0" err="1"/>
              <a:t>m,w</a:t>
            </a:r>
            <a:r>
              <a:rPr lang="en-US" sz="2100" i="1" dirty="0"/>
              <a:t>) </a:t>
            </a:r>
            <a:r>
              <a:rPr lang="en-US" sz="2100" dirty="0"/>
              <a:t>in some stable matching. </a:t>
            </a:r>
          </a:p>
          <a:p>
            <a:pPr>
              <a:spcAft>
                <a:spcPct val="20000"/>
              </a:spcAft>
            </a:pPr>
            <a:r>
              <a:rPr lang="en-US" sz="2100" dirty="0"/>
              <a:t>S</a:t>
            </a:r>
            <a:r>
              <a:rPr lang="en-US" sz="2100" dirty="0" smtClean="0"/>
              <a:t>how </a:t>
            </a:r>
            <a:r>
              <a:rPr lang="en-US" sz="2100" dirty="0"/>
              <a:t>by induction that no man is ever rejected by a woman who is possible for </a:t>
            </a:r>
            <a:r>
              <a:rPr lang="en-US" sz="2100" dirty="0" smtClean="0"/>
              <a:t>him.</a:t>
            </a:r>
            <a:endParaRPr lang="en-US" sz="2100" dirty="0"/>
          </a:p>
          <a:p>
            <a:pPr lvl="1">
              <a:spcAft>
                <a:spcPct val="20000"/>
              </a:spcAft>
            </a:pPr>
            <a:r>
              <a:rPr lang="en-US" sz="2000" dirty="0" smtClean="0"/>
              <a:t>Suppose </a:t>
            </a:r>
            <a:r>
              <a:rPr lang="en-US" sz="2000" dirty="0"/>
              <a:t>this is the case through round </a:t>
            </a:r>
            <a:r>
              <a:rPr lang="en-US" sz="2000" i="1" dirty="0"/>
              <a:t>n</a:t>
            </a:r>
            <a:r>
              <a:rPr lang="en-US" sz="2000" i="1" dirty="0" smtClean="0"/>
              <a:t>.</a:t>
            </a:r>
            <a:endParaRPr lang="en-US" sz="2000" i="1" dirty="0"/>
          </a:p>
          <a:p>
            <a:pPr lvl="1">
              <a:spcAft>
                <a:spcPct val="20000"/>
              </a:spcAft>
            </a:pPr>
            <a:r>
              <a:rPr lang="en-US" sz="2000" dirty="0" smtClean="0"/>
              <a:t>Suppose </a:t>
            </a:r>
            <a:r>
              <a:rPr lang="en-US" sz="2000" dirty="0"/>
              <a:t>at round </a:t>
            </a:r>
            <a:r>
              <a:rPr lang="en-US" sz="2000" i="1" dirty="0"/>
              <a:t>n+1</a:t>
            </a:r>
            <a:r>
              <a:rPr lang="en-US" sz="2000" dirty="0"/>
              <a:t>, woman </a:t>
            </a:r>
            <a:r>
              <a:rPr lang="en-US" sz="2000" i="1" dirty="0"/>
              <a:t>w</a:t>
            </a:r>
            <a:r>
              <a:rPr lang="en-US" sz="2000" dirty="0"/>
              <a:t> rejects </a:t>
            </a:r>
            <a:r>
              <a:rPr lang="en-US" sz="2000" i="1" dirty="0"/>
              <a:t>m </a:t>
            </a:r>
            <a:r>
              <a:rPr lang="en-US" sz="2000" dirty="0"/>
              <a:t>in favor of </a:t>
            </a:r>
            <a:r>
              <a:rPr lang="en-US" sz="2000" i="1" dirty="0"/>
              <a:t>m</a:t>
            </a:r>
            <a:r>
              <a:rPr lang="en-US" sz="2000" i="1" dirty="0" smtClean="0"/>
              <a:t>’</a:t>
            </a:r>
            <a:r>
              <a:rPr lang="en-US" sz="2000" dirty="0" smtClean="0"/>
              <a:t>.</a:t>
            </a:r>
          </a:p>
          <a:p>
            <a:pPr lvl="2">
              <a:spcAft>
                <a:spcPct val="20000"/>
              </a:spcAft>
            </a:pPr>
            <a:r>
              <a:rPr lang="en-US" sz="1700" dirty="0" smtClean="0"/>
              <a:t>Note: this means </a:t>
            </a:r>
            <a:r>
              <a:rPr lang="en-US" sz="1700" i="1" dirty="0" smtClean="0"/>
              <a:t>m’ </a:t>
            </a:r>
            <a:r>
              <a:rPr lang="en-US" sz="1700" dirty="0" smtClean="0"/>
              <a:t>made an offer to </a:t>
            </a:r>
            <a:r>
              <a:rPr lang="en-US" sz="1700" i="1" dirty="0" smtClean="0"/>
              <a:t>w </a:t>
            </a:r>
            <a:r>
              <a:rPr lang="en-US" sz="1700" dirty="0" smtClean="0"/>
              <a:t>in round </a:t>
            </a:r>
            <a:r>
              <a:rPr lang="en-US" sz="1700" i="1" dirty="0" smtClean="0"/>
              <a:t>n+1 </a:t>
            </a:r>
            <a:r>
              <a:rPr lang="en-US" sz="1700" dirty="0" smtClean="0"/>
              <a:t>and hence all the women </a:t>
            </a:r>
            <a:r>
              <a:rPr lang="en-US" sz="1700" i="1" dirty="0" smtClean="0"/>
              <a:t>m’ </a:t>
            </a:r>
            <a:r>
              <a:rPr lang="en-US" sz="1700" dirty="0" smtClean="0"/>
              <a:t>prefers to </a:t>
            </a:r>
            <a:r>
              <a:rPr lang="en-US" sz="1700" i="1" dirty="0" smtClean="0"/>
              <a:t>w </a:t>
            </a:r>
            <a:r>
              <a:rPr lang="en-US" sz="1700" dirty="0" smtClean="0"/>
              <a:t>(who he made prior offers to and who rejected him) must be impossible for him, by the inductive hypothesis.</a:t>
            </a:r>
            <a:endParaRPr lang="en-US" sz="1700" dirty="0"/>
          </a:p>
          <a:p>
            <a:pPr lvl="1">
              <a:spcAft>
                <a:spcPct val="20000"/>
              </a:spcAft>
            </a:pPr>
            <a:r>
              <a:rPr lang="en-US" sz="2000" dirty="0" smtClean="0"/>
              <a:t>Claim: </a:t>
            </a:r>
            <a:r>
              <a:rPr lang="en-US" sz="2000" i="1" dirty="0" smtClean="0"/>
              <a:t>w </a:t>
            </a:r>
            <a:r>
              <a:rPr lang="en-US" sz="2000" dirty="0" smtClean="0"/>
              <a:t>must be </a:t>
            </a:r>
            <a:r>
              <a:rPr lang="en-US" sz="2000" i="1" dirty="0" smtClean="0"/>
              <a:t>impossible </a:t>
            </a:r>
            <a:r>
              <a:rPr lang="en-US" sz="2000" dirty="0" smtClean="0"/>
              <a:t>for </a:t>
            </a:r>
            <a:r>
              <a:rPr lang="en-US" sz="2000" i="1" dirty="0" smtClean="0"/>
              <a:t>m</a:t>
            </a:r>
            <a:r>
              <a:rPr lang="en-US" sz="2000" dirty="0" smtClean="0"/>
              <a:t>.</a:t>
            </a:r>
          </a:p>
          <a:p>
            <a:pPr lvl="2">
              <a:spcAft>
                <a:spcPct val="20000"/>
              </a:spcAft>
            </a:pPr>
            <a:r>
              <a:rPr lang="en-US" sz="1800" dirty="0" smtClean="0"/>
              <a:t>Suppose we try to construct a stable matching that pairs </a:t>
            </a:r>
            <a:r>
              <a:rPr lang="en-US" sz="1800" i="1" dirty="0" smtClean="0"/>
              <a:t>(</a:t>
            </a:r>
            <a:r>
              <a:rPr lang="en-US" sz="1800" dirty="0" err="1" smtClean="0"/>
              <a:t>m,w</a:t>
            </a:r>
            <a:r>
              <a:rPr lang="en-US" sz="1800" dirty="0" smtClean="0"/>
              <a:t>). We need to put </a:t>
            </a:r>
            <a:r>
              <a:rPr lang="en-US" sz="1800" i="1" dirty="0" smtClean="0"/>
              <a:t>m’ </a:t>
            </a:r>
            <a:r>
              <a:rPr lang="en-US" sz="1800" dirty="0" smtClean="0"/>
              <a:t>with someone, but we can’t put him with a woman he prefers to </a:t>
            </a:r>
            <a:r>
              <a:rPr lang="en-US" sz="1800" i="1" dirty="0" smtClean="0"/>
              <a:t>w </a:t>
            </a:r>
            <a:r>
              <a:rPr lang="en-US" sz="1800" dirty="0" smtClean="0"/>
              <a:t>(they are impossible for him), and if we put him with someone less preferred, he and </a:t>
            </a:r>
            <a:r>
              <a:rPr lang="en-US" sz="1800" i="1" dirty="0" smtClean="0"/>
              <a:t>w </a:t>
            </a:r>
            <a:r>
              <a:rPr lang="en-US" sz="1800" dirty="0" smtClean="0"/>
              <a:t>will block. </a:t>
            </a:r>
          </a:p>
          <a:p>
            <a:pPr lvl="1">
              <a:spcAft>
                <a:spcPct val="20000"/>
              </a:spcAft>
            </a:pPr>
            <a:r>
              <a:rPr lang="en-US" sz="2000" dirty="0" smtClean="0"/>
              <a:t>So </a:t>
            </a:r>
            <a:r>
              <a:rPr lang="en-US" sz="2000" dirty="0"/>
              <a:t>in no round is a man rejected by a possible woman.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249362"/>
          </a:xfrm>
        </p:spPr>
        <p:txBody>
          <a:bodyPr/>
          <a:lstStyle/>
          <a:p>
            <a:r>
              <a:rPr lang="en-US" dirty="0" smtClean="0"/>
              <a:t>Stability vs. Pareto Efficiency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101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400" dirty="0" smtClean="0">
                <a:solidFill>
                  <a:srgbClr val="0070C0"/>
                </a:solidFill>
              </a:rPr>
              <a:t>The man-optimal stable match is best for men given stability, but may not be </a:t>
            </a:r>
            <a:r>
              <a:rPr lang="en-US" sz="2400" i="1" dirty="0" smtClean="0">
                <a:solidFill>
                  <a:srgbClr val="0070C0"/>
                </a:solidFill>
              </a:rPr>
              <a:t>Pareto efficient </a:t>
            </a:r>
            <a:r>
              <a:rPr lang="en-US" sz="2400" dirty="0" smtClean="0">
                <a:solidFill>
                  <a:srgbClr val="0070C0"/>
                </a:solidFill>
              </a:rPr>
              <a:t>for the men. </a:t>
            </a:r>
          </a:p>
          <a:p>
            <a:pPr>
              <a:spcAft>
                <a:spcPct val="20000"/>
              </a:spcAft>
            </a:pPr>
            <a:r>
              <a:rPr lang="en-US" sz="2400" dirty="0" smtClean="0"/>
              <a:t>Example: men m1, m2, m3; women w1, w2</a:t>
            </a:r>
          </a:p>
          <a:p>
            <a:pPr marL="344487" lvl="1" indent="0">
              <a:spcAft>
                <a:spcPct val="20000"/>
              </a:spcAft>
              <a:buNone/>
            </a:pPr>
            <a:r>
              <a:rPr lang="en-US" sz="2000" dirty="0" smtClean="0"/>
              <a:t>		m1: w1 &gt; w2		w1: m2 &gt; m3 &gt; m1</a:t>
            </a:r>
          </a:p>
          <a:p>
            <a:pPr marL="344487" lvl="1" indent="0">
              <a:spcAft>
                <a:spcPct val="20000"/>
              </a:spcAft>
              <a:buNone/>
            </a:pPr>
            <a:r>
              <a:rPr lang="en-US" sz="2000" dirty="0" smtClean="0"/>
              <a:t>		m2: w2 &gt; w1		w2: m1 &gt; m3 &gt; m2</a:t>
            </a:r>
          </a:p>
          <a:p>
            <a:pPr marL="344487" lvl="1" indent="0">
              <a:spcAft>
                <a:spcPct val="20000"/>
              </a:spcAft>
              <a:buNone/>
            </a:pPr>
            <a:r>
              <a:rPr lang="en-US" sz="2000" dirty="0" smtClean="0"/>
              <a:t>		m3: w1 &gt; w2</a:t>
            </a:r>
            <a:endParaRPr lang="en-US" sz="1400" dirty="0" smtClean="0"/>
          </a:p>
          <a:p>
            <a:pPr>
              <a:spcAft>
                <a:spcPct val="20000"/>
              </a:spcAft>
            </a:pPr>
            <a:r>
              <a:rPr lang="en-US" sz="2400" dirty="0" smtClean="0"/>
              <a:t>Stable match is (m1, w2), (m2, w1). </a:t>
            </a:r>
          </a:p>
          <a:p>
            <a:pPr>
              <a:spcAft>
                <a:spcPct val="20000"/>
              </a:spcAft>
            </a:pPr>
            <a:r>
              <a:rPr lang="en-US" sz="2400" dirty="0" smtClean="0"/>
              <a:t>But </a:t>
            </a:r>
            <a:r>
              <a:rPr lang="en-US" sz="2400" i="1" dirty="0" smtClean="0"/>
              <a:t>men </a:t>
            </a:r>
            <a:r>
              <a:rPr lang="en-US" sz="2400" dirty="0" smtClean="0"/>
              <a:t>would be better off if m1, m2 swap wives!</a:t>
            </a:r>
            <a:endParaRPr lang="en-US" sz="1400" dirty="0"/>
          </a:p>
          <a:p>
            <a:pPr>
              <a:spcAft>
                <a:spcPct val="20000"/>
              </a:spcAft>
            </a:pPr>
            <a:r>
              <a:rPr lang="en-US" sz="2400" dirty="0" smtClean="0"/>
              <a:t>Why is this? … Stability respects women’s preferences as well as men’s. The stability </a:t>
            </a:r>
            <a:r>
              <a:rPr lang="en-US" sz="2400" dirty="0" err="1" smtClean="0"/>
              <a:t>vs</a:t>
            </a:r>
            <a:r>
              <a:rPr lang="en-US" sz="2400" dirty="0" smtClean="0"/>
              <a:t> </a:t>
            </a:r>
            <a:r>
              <a:rPr lang="en-US" sz="2400" dirty="0"/>
              <a:t>P</a:t>
            </a:r>
            <a:r>
              <a:rPr lang="en-US" sz="2400" dirty="0" smtClean="0"/>
              <a:t>areto efficiency tension will be important when we discuss school choice.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0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Rural </a:t>
            </a:r>
            <a:r>
              <a:rPr lang="en-US" dirty="0" smtClean="0"/>
              <a:t>Hospitals </a:t>
            </a:r>
            <a:r>
              <a:rPr lang="en-US" dirty="0"/>
              <a:t>Theorem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600" dirty="0"/>
          </a:p>
          <a:p>
            <a:pPr>
              <a:buFont typeface="Wingdings" pitchFamily="1" charset="2"/>
              <a:buNone/>
            </a:pPr>
            <a:r>
              <a:rPr lang="en-US" sz="2600" b="1" dirty="0">
                <a:solidFill>
                  <a:srgbClr val="5F3EEA"/>
                </a:solidFill>
              </a:rPr>
              <a:t>Theorem.</a:t>
            </a:r>
            <a:r>
              <a:rPr lang="en-US" sz="2600" dirty="0"/>
              <a:t> The set of men and women who are unmatched is the same </a:t>
            </a:r>
            <a:r>
              <a:rPr lang="en-US" sz="2600" i="1" dirty="0"/>
              <a:t>in all </a:t>
            </a:r>
            <a:r>
              <a:rPr lang="en-US" sz="2600" dirty="0"/>
              <a:t>stable </a:t>
            </a:r>
            <a:r>
              <a:rPr lang="en-US" sz="2600" dirty="0" err="1"/>
              <a:t>matchings</a:t>
            </a:r>
            <a:r>
              <a:rPr lang="en-US" sz="2600" dirty="0" smtClean="0"/>
              <a:t>.</a:t>
            </a:r>
          </a:p>
          <a:p>
            <a:pPr>
              <a:buFont typeface="Wingdings" pitchFamily="1" charset="2"/>
              <a:buNone/>
            </a:pPr>
            <a:endParaRPr lang="en-US" sz="2600" b="1" dirty="0"/>
          </a:p>
          <a:p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Why “rural hospitals”? DA is used to assign doctors to hospitals – some hospitals wondered if changing the algorithm would help them fill positions. 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RH Theorem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33937"/>
          </a:xfrm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Let M,W be the </a:t>
            </a:r>
            <a:r>
              <a:rPr lang="en-US" sz="2000" i="1" dirty="0" smtClean="0"/>
              <a:t>sets</a:t>
            </a:r>
            <a:r>
              <a:rPr lang="en-US" sz="2000" dirty="0" smtClean="0"/>
              <a:t> of men and women matched in the man-optimal stable matching (which is also woman-</a:t>
            </a:r>
            <a:r>
              <a:rPr lang="en-US" sz="2000" dirty="0" err="1" smtClean="0"/>
              <a:t>pessimal</a:t>
            </a:r>
            <a:r>
              <a:rPr lang="en-US" sz="2000" dirty="0" smtClean="0"/>
              <a:t>)</a:t>
            </a:r>
            <a:r>
              <a:rPr lang="en-US" sz="2000" dirty="0"/>
              <a:t>.</a:t>
            </a:r>
            <a:r>
              <a:rPr lang="en-US" sz="2000" dirty="0" smtClean="0"/>
              <a:t>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Let M’,W’ be the </a:t>
            </a:r>
            <a:r>
              <a:rPr lang="en-US" sz="2000" i="1" dirty="0" smtClean="0"/>
              <a:t>sets</a:t>
            </a:r>
            <a:r>
              <a:rPr lang="en-US" sz="2000" dirty="0" smtClean="0"/>
              <a:t> of men and women matched in some other stable matching.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Any man in M’ must also be matched in the man-optimal stable matching, so M’</a:t>
            </a:r>
            <a:r>
              <a:rPr lang="en-US" sz="2000" dirty="0" smtClean="0">
                <a:sym typeface="Symbol"/>
              </a:rPr>
              <a:t>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smtClean="0"/>
              <a:t>M … and also |M’| ≤ |M|.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Any woman matched in the woman-</a:t>
            </a:r>
            <a:r>
              <a:rPr lang="en-US" sz="2000" dirty="0" err="1" smtClean="0"/>
              <a:t>pessimal</a:t>
            </a:r>
            <a:r>
              <a:rPr lang="en-US" sz="2000" dirty="0" smtClean="0"/>
              <a:t> stable matching must also be in W’, so W</a:t>
            </a:r>
            <a:r>
              <a:rPr lang="en-US" sz="2000" dirty="0">
                <a:sym typeface="Symbol"/>
              </a:rPr>
              <a:t>  </a:t>
            </a:r>
            <a:r>
              <a:rPr lang="en-US" sz="2000" dirty="0" smtClean="0"/>
              <a:t>W’ … and also |W|</a:t>
            </a:r>
            <a:r>
              <a:rPr lang="en-US" sz="2000" dirty="0"/>
              <a:t> </a:t>
            </a:r>
            <a:r>
              <a:rPr lang="en-US" sz="2000" dirty="0" smtClean="0"/>
              <a:t>≤ |W’|.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In </a:t>
            </a:r>
            <a:r>
              <a:rPr lang="en-US" sz="2000" dirty="0"/>
              <a:t>any stable matching, the number of matched men </a:t>
            </a:r>
            <a:r>
              <a:rPr lang="en-US" sz="2000" dirty="0" smtClean="0"/>
              <a:t>equals the </a:t>
            </a:r>
            <a:r>
              <a:rPr lang="en-US" sz="2000" dirty="0"/>
              <a:t>number of matched </a:t>
            </a:r>
            <a:r>
              <a:rPr lang="en-US" sz="2000" dirty="0" smtClean="0"/>
              <a:t>women, so |M|=|W| and |M’|=|W’|.</a:t>
            </a:r>
            <a:endParaRPr lang="en-US" sz="20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Therefore |M’| = |M| = |W| = |W’|.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dirty="0" smtClean="0"/>
              <a:t>And so we must have M=M’ and W=W’.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Strategic Behavior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DA </a:t>
            </a:r>
            <a:r>
              <a:rPr lang="en-US" dirty="0"/>
              <a:t>algorithm </a:t>
            </a:r>
            <a:r>
              <a:rPr lang="en-US" dirty="0" smtClean="0"/>
              <a:t>asks </a:t>
            </a:r>
            <a:r>
              <a:rPr lang="en-US" dirty="0"/>
              <a:t>participants to report their preferences</a:t>
            </a:r>
            <a:r>
              <a:rPr lang="en-US" dirty="0" smtClean="0"/>
              <a:t>. Should they report truthfully or be strategic?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Definitions:</a:t>
            </a:r>
          </a:p>
          <a:p>
            <a:pPr lvl="1"/>
            <a:r>
              <a:rPr lang="en-US" dirty="0" smtClean="0"/>
              <a:t>A </a:t>
            </a:r>
            <a:r>
              <a:rPr lang="en-US" i="1" dirty="0" smtClean="0">
                <a:solidFill>
                  <a:srgbClr val="5F3EEA"/>
                </a:solidFill>
              </a:rPr>
              <a:t>matching mechanism</a:t>
            </a:r>
            <a:r>
              <a:rPr lang="en-US" i="1" dirty="0" smtClean="0"/>
              <a:t> </a:t>
            </a:r>
            <a:r>
              <a:rPr lang="en-US" dirty="0" smtClean="0"/>
              <a:t>is a mechanism that maps reported preferences into an assignment.</a:t>
            </a:r>
          </a:p>
          <a:p>
            <a:pPr lvl="1"/>
            <a:r>
              <a:rPr lang="en-US" dirty="0" smtClean="0"/>
              <a:t>A mechanism is </a:t>
            </a:r>
            <a:r>
              <a:rPr lang="en-US" i="1" dirty="0" smtClean="0">
                <a:solidFill>
                  <a:srgbClr val="5F3EEA"/>
                </a:solidFill>
              </a:rPr>
              <a:t>strategy-proof</a:t>
            </a:r>
            <a:r>
              <a:rPr lang="en-US" i="1" dirty="0" smtClean="0"/>
              <a:t> </a:t>
            </a:r>
            <a:r>
              <a:rPr lang="en-US" dirty="0" smtClean="0"/>
              <a:t>if for each participant it is always optimal to be truthful.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 is strategy-proof for men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1" charset="2"/>
              <a:buNone/>
            </a:pPr>
            <a:r>
              <a:rPr lang="en-US" sz="2600" b="1" dirty="0">
                <a:solidFill>
                  <a:srgbClr val="5F3EEA"/>
                </a:solidFill>
              </a:rPr>
              <a:t>Theorem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 err="1"/>
              <a:t>Dubins</a:t>
            </a:r>
            <a:r>
              <a:rPr lang="en-US" sz="2600" dirty="0"/>
              <a:t> and Freedman; Roth). The men proposing deferred acceptance algorithm is strategy-proof for the men.</a:t>
            </a:r>
          </a:p>
          <a:p>
            <a:pPr>
              <a:buFont typeface="Wingdings" pitchFamily="1" charset="2"/>
              <a:buNone/>
            </a:pPr>
            <a:endParaRPr lang="en-US" sz="2600" dirty="0"/>
          </a:p>
          <a:p>
            <a:pPr>
              <a:buFont typeface="Wingdings" pitchFamily="1" charset="2"/>
              <a:buNone/>
            </a:pPr>
            <a:r>
              <a:rPr lang="en-US" sz="2600" b="1" dirty="0"/>
              <a:t>Proof</a:t>
            </a:r>
            <a:r>
              <a:rPr lang="en-US" sz="2600" dirty="0"/>
              <a:t>. </a:t>
            </a:r>
          </a:p>
          <a:p>
            <a:r>
              <a:rPr lang="en-US" sz="2600" dirty="0"/>
              <a:t>Fix the reports o</a:t>
            </a:r>
            <a:r>
              <a:rPr lang="en-US" sz="2600" dirty="0" smtClean="0"/>
              <a:t>f </a:t>
            </a:r>
            <a:r>
              <a:rPr lang="en-US" sz="2600" dirty="0"/>
              <a:t>all </a:t>
            </a:r>
            <a:r>
              <a:rPr lang="en-US" sz="2600" dirty="0" smtClean="0"/>
              <a:t>women </a:t>
            </a:r>
            <a:r>
              <a:rPr lang="en-US" sz="2600" dirty="0"/>
              <a:t>and all but one man.</a:t>
            </a:r>
          </a:p>
          <a:p>
            <a:r>
              <a:rPr lang="en-US" sz="2600" dirty="0"/>
              <a:t>Show that whatever </a:t>
            </a:r>
            <a:r>
              <a:rPr lang="en-US" sz="2600" dirty="0" smtClean="0"/>
              <a:t>report </a:t>
            </a:r>
            <a:r>
              <a:rPr lang="en-US" sz="2600" dirty="0"/>
              <a:t>the man </a:t>
            </a:r>
            <a:r>
              <a:rPr lang="en-US" sz="2600" i="1" dirty="0"/>
              <a:t>m </a:t>
            </a:r>
            <a:r>
              <a:rPr lang="en-US" sz="2600" dirty="0" smtClean="0"/>
              <a:t>considers making, there will be a chain of (weak</a:t>
            </a:r>
            <a:r>
              <a:rPr lang="en-US" sz="2600" dirty="0"/>
              <a:t>) improvements leading to a truthful report. </a:t>
            </a:r>
            <a:endParaRPr lang="en-US" sz="26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33937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20000"/>
              </a:spcAft>
              <a:buFont typeface="Wingdings" pitchFamily="1" charset="2"/>
              <a:buNone/>
            </a:pPr>
            <a:r>
              <a:rPr lang="en-US" sz="2600" dirty="0"/>
              <a:t>Suppose </a:t>
            </a:r>
            <a:r>
              <a:rPr lang="en-US" sz="2600" i="1" dirty="0" smtClean="0"/>
              <a:t>m </a:t>
            </a:r>
            <a:r>
              <a:rPr lang="en-US" sz="2600" dirty="0"/>
              <a:t>is considering </a:t>
            </a:r>
            <a:r>
              <a:rPr lang="en-US" sz="2600" dirty="0" smtClean="0"/>
              <a:t>making a report that, fixing the reports of others, will lead to a match </a:t>
            </a:r>
            <a:r>
              <a:rPr lang="en-US" sz="2600" i="1" dirty="0"/>
              <a:t>x </a:t>
            </a:r>
            <a:r>
              <a:rPr lang="en-US" sz="2600" dirty="0"/>
              <a:t>where he gets </a:t>
            </a:r>
            <a:r>
              <a:rPr lang="en-US" sz="2600" i="1" dirty="0"/>
              <a:t>w</a:t>
            </a:r>
            <a:r>
              <a:rPr lang="en-US" sz="2600" dirty="0"/>
              <a:t>. T</a:t>
            </a:r>
            <a:r>
              <a:rPr lang="en-US" sz="2600" dirty="0" smtClean="0"/>
              <a:t>he </a:t>
            </a:r>
            <a:r>
              <a:rPr lang="en-US" sz="2600" dirty="0"/>
              <a:t>following changes </a:t>
            </a:r>
            <a:r>
              <a:rPr lang="en-US" sz="2600" dirty="0" smtClean="0"/>
              <a:t>improve his </a:t>
            </a:r>
            <a:r>
              <a:rPr lang="en-US" sz="2600" dirty="0"/>
              <a:t>outcome</a:t>
            </a:r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/>
              <a:t>Reporting that </a:t>
            </a:r>
            <a:r>
              <a:rPr lang="en-US" sz="2600" i="1" dirty="0"/>
              <a:t>w </a:t>
            </a:r>
            <a:r>
              <a:rPr lang="en-US" sz="2600" dirty="0"/>
              <a:t>is his only acceptable woman.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 smtClean="0"/>
              <a:t>DA will still result in him getting </a:t>
            </a:r>
            <a:r>
              <a:rPr lang="en-US" sz="2200" i="1" dirty="0" smtClean="0"/>
              <a:t>w – </a:t>
            </a:r>
            <a:r>
              <a:rPr lang="en-US" sz="2200" dirty="0" smtClean="0"/>
              <a:t>as if he “sat out” the rounds before he otherwise would have asked </a:t>
            </a:r>
            <a:r>
              <a:rPr lang="en-US" sz="2200" i="1" dirty="0" smtClean="0"/>
              <a:t>w.</a:t>
            </a:r>
            <a:endParaRPr lang="en-US" sz="2200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 smtClean="0"/>
              <a:t>Reporting </a:t>
            </a:r>
            <a:r>
              <a:rPr lang="en-US" sz="2600" dirty="0"/>
              <a:t>honestly, but truncating at </a:t>
            </a:r>
            <a:r>
              <a:rPr lang="en-US" sz="2600" i="1" dirty="0"/>
              <a:t>w.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 smtClean="0"/>
              <a:t>Can’t hurt to ask women he likes better – he might get one and if not, he can still get </a:t>
            </a:r>
            <a:r>
              <a:rPr lang="en-US" sz="2200" i="1" dirty="0" smtClean="0"/>
              <a:t>w </a:t>
            </a:r>
            <a:r>
              <a:rPr lang="en-US" sz="2200" dirty="0" smtClean="0"/>
              <a:t>even asking at the end. </a:t>
            </a:r>
            <a:endParaRPr lang="en-US" sz="2200" i="1" dirty="0"/>
          </a:p>
          <a:p>
            <a:pPr>
              <a:lnSpc>
                <a:spcPct val="90000"/>
              </a:lnSpc>
              <a:spcAft>
                <a:spcPct val="20000"/>
              </a:spcAft>
            </a:pPr>
            <a:r>
              <a:rPr lang="en-US" sz="2600" dirty="0"/>
              <a:t>Reporting honestly with no truncation.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sz="2200" dirty="0"/>
              <a:t>This won’t affect DA relative to above strategy.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DA not strategy-proof for women</a:t>
            </a:r>
            <a:endParaRPr lang="en-US" sz="3600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053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600" b="1">
                <a:solidFill>
                  <a:srgbClr val="0000FF"/>
                </a:solidFill>
              </a:rPr>
              <a:t>Example</a:t>
            </a:r>
            <a:r>
              <a:rPr lang="en-US" sz="2600"/>
              <a:t> (two men, two women)</a:t>
            </a:r>
          </a:p>
          <a:p>
            <a:pPr lvl="1">
              <a:lnSpc>
                <a:spcPct val="80000"/>
              </a:lnSpc>
              <a:spcAft>
                <a:spcPct val="20000"/>
              </a:spcAft>
            </a:pPr>
            <a:r>
              <a:rPr lang="en-US" sz="2400" i="1"/>
              <a:t>m </a:t>
            </a:r>
            <a:r>
              <a:rPr lang="en-US" sz="2400"/>
              <a:t>prefers </a:t>
            </a:r>
            <a:r>
              <a:rPr lang="en-US" sz="2400" i="1"/>
              <a:t>w </a:t>
            </a:r>
            <a:r>
              <a:rPr lang="en-US" sz="2400"/>
              <a:t>to </a:t>
            </a:r>
            <a:r>
              <a:rPr lang="en-US" sz="2400" i="1"/>
              <a:t>w’</a:t>
            </a:r>
          </a:p>
          <a:p>
            <a:pPr lvl="1">
              <a:lnSpc>
                <a:spcPct val="80000"/>
              </a:lnSpc>
              <a:spcAft>
                <a:spcPct val="20000"/>
              </a:spcAft>
            </a:pPr>
            <a:r>
              <a:rPr lang="en-US" sz="2400" i="1"/>
              <a:t>m’ </a:t>
            </a:r>
            <a:r>
              <a:rPr lang="en-US" sz="2400"/>
              <a:t>prefers </a:t>
            </a:r>
            <a:r>
              <a:rPr lang="en-US" sz="2400" i="1"/>
              <a:t>w’ </a:t>
            </a:r>
            <a:r>
              <a:rPr lang="en-US" sz="2400"/>
              <a:t>to </a:t>
            </a:r>
            <a:r>
              <a:rPr lang="en-US" sz="2400" i="1"/>
              <a:t>w</a:t>
            </a:r>
          </a:p>
          <a:p>
            <a:pPr lvl="1">
              <a:lnSpc>
                <a:spcPct val="80000"/>
              </a:lnSpc>
              <a:spcAft>
                <a:spcPct val="20000"/>
              </a:spcAft>
            </a:pPr>
            <a:r>
              <a:rPr lang="en-US" sz="2400" i="1"/>
              <a:t>w </a:t>
            </a:r>
            <a:r>
              <a:rPr lang="en-US" sz="2400"/>
              <a:t>prefers </a:t>
            </a:r>
            <a:r>
              <a:rPr lang="en-US" sz="2400" i="1"/>
              <a:t>m’ </a:t>
            </a:r>
            <a:r>
              <a:rPr lang="en-US" sz="2400"/>
              <a:t>to </a:t>
            </a:r>
            <a:r>
              <a:rPr lang="en-US" sz="2400" i="1"/>
              <a:t>m</a:t>
            </a:r>
          </a:p>
          <a:p>
            <a:pPr lvl="1">
              <a:lnSpc>
                <a:spcPct val="80000"/>
              </a:lnSpc>
              <a:spcAft>
                <a:spcPct val="20000"/>
              </a:spcAft>
            </a:pPr>
            <a:r>
              <a:rPr lang="en-US" sz="2400"/>
              <a:t>w’ prefers </a:t>
            </a:r>
            <a:r>
              <a:rPr lang="en-US" sz="2400" i="1"/>
              <a:t>m </a:t>
            </a:r>
            <a:r>
              <a:rPr lang="en-US" sz="2400"/>
              <a:t>to </a:t>
            </a:r>
            <a:r>
              <a:rPr lang="en-US" sz="2400" i="1"/>
              <a:t>m’</a:t>
            </a:r>
          </a:p>
          <a:p>
            <a:pPr>
              <a:lnSpc>
                <a:spcPct val="120000"/>
              </a:lnSpc>
              <a:spcAft>
                <a:spcPct val="20000"/>
              </a:spcAft>
            </a:pPr>
            <a:r>
              <a:rPr lang="en-US" sz="2600"/>
              <a:t>Under man-proposing DA algorithm</a:t>
            </a:r>
          </a:p>
          <a:p>
            <a:pPr lvl="1">
              <a:spcAft>
                <a:spcPct val="20000"/>
              </a:spcAft>
            </a:pPr>
            <a:r>
              <a:rPr lang="en-US" sz="2400"/>
              <a:t>If everyone reports truthfullly: </a:t>
            </a:r>
            <a:r>
              <a:rPr lang="en-US" sz="2400" i="1"/>
              <a:t>(m,w),(m’,w’)</a:t>
            </a:r>
          </a:p>
          <a:p>
            <a:pPr lvl="1">
              <a:spcAft>
                <a:spcPct val="20000"/>
              </a:spcAft>
            </a:pPr>
            <a:r>
              <a:rPr lang="en-US" sz="2400"/>
              <a:t>If </a:t>
            </a:r>
            <a:r>
              <a:rPr lang="en-US" sz="2400" i="1"/>
              <a:t>w </a:t>
            </a:r>
            <a:r>
              <a:rPr lang="en-US" sz="2400"/>
              <a:t>reports that </a:t>
            </a:r>
            <a:r>
              <a:rPr lang="en-US" sz="2400" i="1"/>
              <a:t>m </a:t>
            </a:r>
            <a:r>
              <a:rPr lang="en-US" sz="2400"/>
              <a:t>is unacceptable, the outcome is instead </a:t>
            </a:r>
            <a:r>
              <a:rPr lang="en-US" sz="2400" i="1"/>
              <a:t>(m,w’),(m’,w) </a:t>
            </a:r>
            <a:r>
              <a:rPr lang="en-US" sz="2400"/>
              <a:t>--- </a:t>
            </a:r>
            <a:r>
              <a:rPr lang="en-US" sz="2400">
                <a:solidFill>
                  <a:srgbClr val="4F8754"/>
                </a:solidFill>
              </a:rPr>
              <a:t>better for </a:t>
            </a:r>
            <a:r>
              <a:rPr lang="en-US" sz="2400" i="1">
                <a:solidFill>
                  <a:srgbClr val="4F8754"/>
                </a:solidFill>
              </a:rPr>
              <a:t>w!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behavior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The example on the previous slide can be used to establish the following </a:t>
            </a:r>
            <a:r>
              <a:rPr lang="en-US" sz="2600" dirty="0" smtClean="0"/>
              <a:t>result.</a:t>
            </a:r>
          </a:p>
          <a:p>
            <a:endParaRPr lang="en-US" sz="2600" dirty="0"/>
          </a:p>
          <a:p>
            <a:pPr>
              <a:buFont typeface="Wingdings" pitchFamily="1" charset="2"/>
              <a:buNone/>
            </a:pPr>
            <a:r>
              <a:rPr lang="en-US" sz="2600" b="1" dirty="0">
                <a:solidFill>
                  <a:srgbClr val="5F3EEA"/>
                </a:solidFill>
              </a:rPr>
              <a:t>Theorem</a:t>
            </a:r>
            <a:r>
              <a:rPr lang="en-US" sz="2600" b="1" dirty="0"/>
              <a:t>. </a:t>
            </a:r>
            <a:r>
              <a:rPr lang="en-US" sz="2600" dirty="0"/>
              <a:t>There is </a:t>
            </a:r>
            <a:r>
              <a:rPr lang="en-US" sz="2600" i="1" dirty="0"/>
              <a:t>no</a:t>
            </a:r>
            <a:r>
              <a:rPr lang="en-US" sz="2600" dirty="0"/>
              <a:t> matching mechanism that is strategy-proof and always generates stable outcomes given reported preferences.</a:t>
            </a:r>
          </a:p>
          <a:p>
            <a:pPr>
              <a:buFont typeface="Wingdings" pitchFamily="1" charset="2"/>
              <a:buNone/>
            </a:pPr>
            <a:endParaRPr lang="en-US" sz="2600" dirty="0"/>
          </a:p>
          <a:p>
            <a:r>
              <a:rPr lang="en-US" sz="2600" dirty="0"/>
              <a:t>Both </a:t>
            </a:r>
            <a:r>
              <a:rPr lang="en-US" sz="2600" dirty="0" smtClean="0"/>
              <a:t>versions </a:t>
            </a:r>
            <a:r>
              <a:rPr lang="en-US" sz="2600" dirty="0"/>
              <a:t>of DA lead to stable matches, so </a:t>
            </a:r>
            <a:r>
              <a:rPr lang="en-US" sz="2600" dirty="0" smtClean="0"/>
              <a:t>neither version is strategy-proof for all participants!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many stable matchings?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053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600"/>
              <a:t>Evidently, the incentives and scope for manipulation depend on whether preferences are such that there are many stable matchings.</a:t>
            </a:r>
          </a:p>
          <a:p>
            <a:pPr>
              <a:spcAft>
                <a:spcPct val="20000"/>
              </a:spcAft>
            </a:pPr>
            <a:r>
              <a:rPr lang="en-US" sz="2600"/>
              <a:t>If there is a unique stable match given true preferences, there is no incentive to manipulate if others are reporting truthfully.</a:t>
            </a:r>
          </a:p>
          <a:p>
            <a:pPr>
              <a:spcAft>
                <a:spcPct val="20000"/>
              </a:spcAft>
            </a:pPr>
            <a:r>
              <a:rPr lang="en-US" sz="2600"/>
              <a:t>When might we have a unique stable match?</a:t>
            </a:r>
          </a:p>
          <a:p>
            <a:pPr lvl="1">
              <a:spcAft>
                <a:spcPct val="20000"/>
              </a:spcAft>
            </a:pPr>
            <a:r>
              <a:rPr lang="en-US" sz="2200"/>
              <a:t>Ex: if all women rank men the same, or vice-versa.</a:t>
            </a:r>
          </a:p>
          <a:p>
            <a:pPr lvl="1">
              <a:spcAft>
                <a:spcPct val="20000"/>
              </a:spcAft>
            </a:pPr>
            <a:r>
              <a:rPr lang="en-US" sz="2200"/>
              <a:t>In “large” markets? We’ll come back to this later.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05337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en-US" sz="2600" dirty="0"/>
              <a:t>M</a:t>
            </a:r>
            <a:r>
              <a:rPr lang="en-US" sz="2600" dirty="0" smtClean="0"/>
              <a:t>arriage model captures generic situation in which</a:t>
            </a:r>
          </a:p>
          <a:p>
            <a:pPr lvl="1">
              <a:spcAft>
                <a:spcPct val="20000"/>
              </a:spcAft>
            </a:pPr>
            <a:r>
              <a:rPr lang="en-US" sz="2200" dirty="0" smtClean="0"/>
              <a:t>Participants on two sides must be matched one-to-one.</a:t>
            </a:r>
          </a:p>
          <a:p>
            <a:pPr lvl="1">
              <a:spcAft>
                <a:spcPct val="20000"/>
              </a:spcAft>
            </a:pPr>
            <a:r>
              <a:rPr lang="en-US" sz="2200" dirty="0" smtClean="0"/>
              <a:t>Participants care about who they get matched with. </a:t>
            </a:r>
            <a:endParaRPr lang="en-US" sz="2200" dirty="0"/>
          </a:p>
          <a:p>
            <a:pPr>
              <a:spcAft>
                <a:spcPct val="20000"/>
              </a:spcAft>
            </a:pPr>
            <a:r>
              <a:rPr lang="en-US" sz="2600" dirty="0" smtClean="0"/>
              <a:t>Stability is a desirable outcome in this problem.</a:t>
            </a:r>
          </a:p>
          <a:p>
            <a:pPr>
              <a:spcAft>
                <a:spcPct val="20000"/>
              </a:spcAft>
            </a:pPr>
            <a:r>
              <a:rPr lang="en-US" sz="2600" dirty="0" smtClean="0"/>
              <a:t>Deferred acceptance algorithm finds a stable match</a:t>
            </a:r>
          </a:p>
          <a:p>
            <a:pPr lvl="1">
              <a:spcAft>
                <a:spcPct val="20000"/>
              </a:spcAft>
            </a:pPr>
            <a:r>
              <a:rPr lang="en-US" sz="2200" dirty="0" smtClean="0"/>
              <a:t>Man-proposing version also finds stable match that is optimal for the men, and induces men to be truthful.</a:t>
            </a:r>
          </a:p>
          <a:p>
            <a:pPr lvl="1">
              <a:spcAft>
                <a:spcPct val="20000"/>
              </a:spcAft>
            </a:pPr>
            <a:r>
              <a:rPr lang="en-US" sz="2200" dirty="0" smtClean="0"/>
              <a:t>Women may have some incentive to manipulate the algorithm by truncation, if they can identify an opportunity. </a:t>
            </a:r>
          </a:p>
          <a:p>
            <a:pPr>
              <a:spcAft>
                <a:spcPct val="20000"/>
              </a:spcAft>
            </a:pPr>
            <a:r>
              <a:rPr lang="en-US" sz="2600" dirty="0" smtClean="0"/>
              <a:t>Next time we will start to look at applications.</a:t>
            </a:r>
            <a:endParaRPr lang="en-US" sz="2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7851-EDF9-4F1B-8F05-4A5DA4E7E90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0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9827</TotalTime>
  <Words>2125</Words>
  <Application>Microsoft Office PowerPoint</Application>
  <PresentationFormat>On-screen Show (4:3)</PresentationFormat>
  <Paragraphs>269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Symbol</vt:lpstr>
      <vt:lpstr>Wingdings</vt:lpstr>
      <vt:lpstr>Network</vt:lpstr>
      <vt:lpstr>Matching Theory</vt:lpstr>
      <vt:lpstr>Two-Sided Matching</vt:lpstr>
      <vt:lpstr>PowerPoint Presentation</vt:lpstr>
      <vt:lpstr>Marriage Model</vt:lpstr>
      <vt:lpstr>Matching</vt:lpstr>
      <vt:lpstr>Example 1</vt:lpstr>
      <vt:lpstr>Example 2</vt:lpstr>
      <vt:lpstr>Deferred Acceptance</vt:lpstr>
      <vt:lpstr>DA in pictures</vt:lpstr>
      <vt:lpstr>Stable matchings exist</vt:lpstr>
      <vt:lpstr>Example</vt:lpstr>
      <vt:lpstr>Aside: the roommate problem</vt:lpstr>
      <vt:lpstr>Why stability?</vt:lpstr>
      <vt:lpstr>Decentralized market</vt:lpstr>
      <vt:lpstr>Example: clinical psychology</vt:lpstr>
      <vt:lpstr>Example: clinical psychology</vt:lpstr>
      <vt:lpstr>Optimal stable matchings</vt:lpstr>
      <vt:lpstr>Proof</vt:lpstr>
      <vt:lpstr>Stability vs. Pareto Efficiency</vt:lpstr>
      <vt:lpstr>Rural Hospitals Theorem</vt:lpstr>
      <vt:lpstr>Proof of RH Theorem</vt:lpstr>
      <vt:lpstr>Strategic Behavior</vt:lpstr>
      <vt:lpstr>DA is strategy-proof for men</vt:lpstr>
      <vt:lpstr>Proof</vt:lpstr>
      <vt:lpstr>DA not strategy-proof for women</vt:lpstr>
      <vt:lpstr>Strategic behavior</vt:lpstr>
      <vt:lpstr>How many stable matchings?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Markets</dc:title>
  <dc:creator>jdlevin</dc:creator>
  <cp:lastModifiedBy>Jonathan Levin</cp:lastModifiedBy>
  <cp:revision>128</cp:revision>
  <cp:lastPrinted>2011-09-27T16:51:09Z</cp:lastPrinted>
  <dcterms:created xsi:type="dcterms:W3CDTF">2009-03-20T18:03:54Z</dcterms:created>
  <dcterms:modified xsi:type="dcterms:W3CDTF">2014-04-01T17:29:05Z</dcterms:modified>
</cp:coreProperties>
</file>