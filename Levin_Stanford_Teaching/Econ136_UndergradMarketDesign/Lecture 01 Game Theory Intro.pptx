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17"/>
  </p:notesMasterIdLst>
  <p:handoutMasterIdLst>
    <p:handoutMasterId r:id="rId18"/>
  </p:handoutMasterIdLst>
  <p:sldIdLst>
    <p:sldId id="256" r:id="rId2"/>
    <p:sldId id="263" r:id="rId3"/>
    <p:sldId id="257" r:id="rId4"/>
    <p:sldId id="260" r:id="rId5"/>
    <p:sldId id="261" r:id="rId6"/>
    <p:sldId id="262" r:id="rId7"/>
    <p:sldId id="264" r:id="rId8"/>
    <p:sldId id="278" r:id="rId9"/>
    <p:sldId id="267" r:id="rId10"/>
    <p:sldId id="274" r:id="rId11"/>
    <p:sldId id="270" r:id="rId12"/>
    <p:sldId id="276" r:id="rId13"/>
    <p:sldId id="271" r:id="rId14"/>
    <p:sldId id="273" r:id="rId15"/>
    <p:sldId id="277" r:id="rId16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3E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5" d="100"/>
          <a:sy n="125" d="100"/>
        </p:scale>
        <p:origin x="11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F2E442-75DA-4C59-8D80-E170EC6B33C0}" type="datetimeFigureOut">
              <a:rPr lang="en-US" smtClean="0"/>
              <a:t>4/1/2014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232A45-9C77-4E92-A441-2E0EAE8F0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11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B6329E-31B1-4812-99BA-D59B4B172DCD}" type="datetimeFigureOut">
              <a:rPr lang="en-US" smtClean="0"/>
              <a:t>4/1/2014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D0FD8F-8783-4415-891E-8EB607DFF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568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D0FD8F-8783-4415-891E-8EB607DFFC6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304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charset="0"/>
              <a:buNone/>
              <a:defRPr sz="3200"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50EC4ABD-C199-274F-83EF-E4789E600018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5128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5129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0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1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2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3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4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5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6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7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8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9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0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1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2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3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4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5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6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7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8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9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0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1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2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3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4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5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6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7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8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9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60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A4BFA0-DCB5-5341-8255-672D4DCA3B2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97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AAF655-3DC8-8E47-83DE-714DDDEF07B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81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33C83D-86F6-D449-9C43-296183763DB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752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57340C-337A-8346-B0AB-B4C46345990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94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6FCF2D-EC33-4A4B-9AEE-B2C0AB8309D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557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DBCE51-07BB-8B4C-8073-7036F8F26C8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01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34554E-4C47-4149-956B-CC8F3C9005A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9260CD-7127-A247-96F3-9CD85FA4E78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963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76E1A4-3E06-0A47-93BC-9D8818CA4F0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85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414286-A7FD-B548-86A3-34BC2AF284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60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E64D7D09-F729-8146-B19E-7706470C1EBD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4104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410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ＭＳ Ｐゴシック" charset="0"/>
        </a:defRPr>
      </a:lvl2pPr>
      <a:lvl3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ＭＳ Ｐゴシック" charset="0"/>
        </a:defRPr>
      </a:lvl3pPr>
      <a:lvl4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ＭＳ Ｐゴシック" charset="0"/>
        </a:defRPr>
      </a:lvl4pPr>
      <a:lvl5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charset="0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0"/>
        <a:buChar char="l"/>
        <a:defRPr sz="2600">
          <a:solidFill>
            <a:schemeClr val="tx1"/>
          </a:solidFill>
          <a:latin typeface="+mn-lt"/>
          <a:ea typeface="+mn-ea"/>
        </a:defRPr>
      </a:lvl2pPr>
      <a:lvl3pPr marL="987425" indent="-293688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281113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0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15986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charset="0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charset="0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charset="0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charset="0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charset="0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/>
            </a:r>
            <a:br>
              <a:rPr lang="en-US" sz="4400" dirty="0"/>
            </a:br>
            <a:r>
              <a:rPr lang="en-US" sz="4400" dirty="0"/>
              <a:t/>
            </a:r>
            <a:br>
              <a:rPr lang="en-US" sz="4400" dirty="0"/>
            </a:br>
            <a:r>
              <a:rPr lang="en-US" sz="4400" dirty="0" smtClean="0"/>
              <a:t>Game Theory</a:t>
            </a:r>
            <a:endParaRPr lang="en-US" sz="4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EC4ABD-C199-274F-83EF-E4789E600018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944562"/>
          </a:xfrm>
        </p:spPr>
        <p:txBody>
          <a:bodyPr/>
          <a:lstStyle/>
          <a:p>
            <a:r>
              <a:rPr lang="en-US" sz="3200" dirty="0" smtClean="0"/>
              <a:t>Game Theory and Mechanism Design</a:t>
            </a:r>
            <a:endParaRPr lang="en-US" sz="32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i="1" dirty="0" smtClean="0">
                <a:solidFill>
                  <a:srgbClr val="5F3EEA"/>
                </a:solidFill>
              </a:rPr>
              <a:t>Game theory </a:t>
            </a:r>
            <a:r>
              <a:rPr lang="en-US" dirty="0" smtClean="0">
                <a:solidFill>
                  <a:srgbClr val="000000"/>
                </a:solidFill>
              </a:rPr>
              <a:t>to analyze strategic behavior: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dirty="0" smtClean="0">
                <a:solidFill>
                  <a:srgbClr val="000000"/>
                </a:solidFill>
              </a:rPr>
              <a:t>Given a strategic environment (a “game”), and an assumption about like behavior (e.g. Nash Equilibrium), we can predict what will happen.</a:t>
            </a:r>
          </a:p>
          <a:p>
            <a:pPr lvl="3">
              <a:lnSpc>
                <a:spcPct val="90000"/>
              </a:lnSpc>
              <a:spcAft>
                <a:spcPct val="20000"/>
              </a:spcAft>
            </a:pPr>
            <a:endParaRPr lang="en-US" dirty="0" smtClean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i="1" dirty="0" smtClean="0">
                <a:solidFill>
                  <a:srgbClr val="5F3EEA"/>
                </a:solidFill>
              </a:rPr>
              <a:t>Mechanism design </a:t>
            </a:r>
            <a:r>
              <a:rPr lang="en-US" dirty="0" smtClean="0"/>
              <a:t>flips the problem around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dirty="0" smtClean="0"/>
              <a:t>How do we set up a strategic environment so that if players follow a certain type of behavior (e.g. Nash Equilibrium), we get a desired outcome?</a:t>
            </a:r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4BFA0-DCB5-5341-8255-672D4DCA3B2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549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Game Theory</a:t>
            </a: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Aft>
                <a:spcPct val="20000"/>
              </a:spcAft>
            </a:pPr>
            <a:endParaRPr lang="en-US" dirty="0" smtClean="0">
              <a:solidFill>
                <a:srgbClr val="5F3EEA"/>
              </a:solidFill>
            </a:endParaRPr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dirty="0" smtClean="0">
                <a:solidFill>
                  <a:srgbClr val="5F3EEA"/>
                </a:solidFill>
              </a:rPr>
              <a:t>A </a:t>
            </a:r>
            <a:r>
              <a:rPr lang="en-US" i="1" dirty="0" smtClean="0">
                <a:solidFill>
                  <a:srgbClr val="5F3EEA"/>
                </a:solidFill>
              </a:rPr>
              <a:t>game </a:t>
            </a:r>
            <a:r>
              <a:rPr lang="en-US" dirty="0" smtClean="0">
                <a:solidFill>
                  <a:srgbClr val="5F3EEA"/>
                </a:solidFill>
              </a:rPr>
              <a:t>consists of..</a:t>
            </a:r>
            <a:endParaRPr lang="en-US" dirty="0">
              <a:solidFill>
                <a:srgbClr val="5F3EEA"/>
              </a:solidFill>
            </a:endParaRP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dirty="0" smtClean="0"/>
              <a:t>Players </a:t>
            </a:r>
            <a:r>
              <a:rPr lang="en-US" i="1" dirty="0" err="1" smtClean="0"/>
              <a:t>i</a:t>
            </a:r>
            <a:r>
              <a:rPr lang="en-US" i="1" dirty="0" smtClean="0"/>
              <a:t>=1,…,n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dirty="0"/>
              <a:t>P</a:t>
            </a:r>
            <a:r>
              <a:rPr lang="en-US" dirty="0" smtClean="0"/>
              <a:t>ossible </a:t>
            </a:r>
            <a:r>
              <a:rPr lang="en-US" i="1" dirty="0" smtClean="0"/>
              <a:t>actions </a:t>
            </a:r>
            <a:r>
              <a:rPr lang="en-US" dirty="0" smtClean="0"/>
              <a:t>for each player: </a:t>
            </a:r>
            <a:r>
              <a:rPr lang="en-US" i="1" dirty="0" smtClean="0"/>
              <a:t>A</a:t>
            </a:r>
            <a:r>
              <a:rPr lang="en-US" i="1" baseline="-25000" dirty="0" smtClean="0"/>
              <a:t>1</a:t>
            </a:r>
            <a:r>
              <a:rPr lang="en-US" i="1" dirty="0" smtClean="0"/>
              <a:t>,…,A</a:t>
            </a:r>
            <a:r>
              <a:rPr lang="en-US" i="1" baseline="-25000" dirty="0" smtClean="0"/>
              <a:t>n</a:t>
            </a:r>
            <a:endParaRPr lang="en-US" dirty="0" smtClean="0"/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dirty="0" smtClean="0"/>
              <a:t>Payoff function for each player: </a:t>
            </a:r>
            <a:r>
              <a:rPr lang="en-US" i="1" dirty="0" err="1" smtClean="0"/>
              <a:t>u</a:t>
            </a:r>
            <a:r>
              <a:rPr lang="en-US" i="1" baseline="-25000" dirty="0" err="1" smtClean="0"/>
              <a:t>i</a:t>
            </a:r>
            <a:r>
              <a:rPr lang="en-US" i="1" dirty="0" smtClean="0"/>
              <a:t>(a</a:t>
            </a:r>
            <a:r>
              <a:rPr lang="en-US" i="1" baseline="-25000" dirty="0" smtClean="0"/>
              <a:t>1</a:t>
            </a:r>
            <a:r>
              <a:rPr lang="en-US" i="1" dirty="0" smtClean="0"/>
              <a:t>,…,a</a:t>
            </a:r>
            <a:r>
              <a:rPr lang="en-US" i="1" baseline="-25000" dirty="0" smtClean="0"/>
              <a:t>n</a:t>
            </a:r>
            <a:r>
              <a:rPr lang="en-US" i="1" dirty="0" smtClean="0"/>
              <a:t>)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endParaRPr lang="en-US" i="1" dirty="0"/>
          </a:p>
          <a:p>
            <a:pPr>
              <a:lnSpc>
                <a:spcPct val="90000"/>
              </a:lnSpc>
              <a:spcAft>
                <a:spcPct val="20000"/>
              </a:spcAft>
            </a:pPr>
            <a:endParaRPr lang="en-US" dirty="0" smtClean="0"/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dirty="0" smtClean="0"/>
              <a:t>Game is commonly known to the players.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4BFA0-DCB5-5341-8255-672D4DCA3B2A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510426"/>
              </p:ext>
            </p:extLst>
          </p:nvPr>
        </p:nvGraphicFramePr>
        <p:xfrm>
          <a:off x="1905000" y="1981200"/>
          <a:ext cx="5638800" cy="3505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79600"/>
                <a:gridCol w="1879600"/>
                <a:gridCol w="1879600"/>
              </a:tblGrid>
              <a:tr h="1168400">
                <a:tc>
                  <a:txBody>
                    <a:bodyPr/>
                    <a:lstStyle/>
                    <a:p>
                      <a:pPr algn="ctr"/>
                      <a:endParaRPr lang="en-US" sz="3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3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3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84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3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 smtClean="0">
                          <a:solidFill>
                            <a:schemeClr val="tx1"/>
                          </a:solidFill>
                        </a:rPr>
                        <a:t>2 , 2</a:t>
                      </a:r>
                      <a:endParaRPr lang="en-US" sz="3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 smtClean="0">
                          <a:solidFill>
                            <a:schemeClr val="tx1"/>
                          </a:solidFill>
                        </a:rPr>
                        <a:t>-1 , 4</a:t>
                      </a:r>
                      <a:endParaRPr lang="en-US" sz="3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84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3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 smtClean="0">
                          <a:solidFill>
                            <a:schemeClr val="tx1"/>
                          </a:solidFill>
                        </a:rPr>
                        <a:t>4 ,</a:t>
                      </a:r>
                      <a:r>
                        <a:rPr lang="en-US" sz="3000" b="1" baseline="0" dirty="0" smtClean="0">
                          <a:solidFill>
                            <a:schemeClr val="tx1"/>
                          </a:solidFill>
                        </a:rPr>
                        <a:t> -1</a:t>
                      </a:r>
                      <a:endParaRPr lang="en-US" sz="3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 smtClean="0">
                          <a:solidFill>
                            <a:schemeClr val="tx1"/>
                          </a:solidFill>
                        </a:rPr>
                        <a:t>0 , 0</a:t>
                      </a:r>
                      <a:endParaRPr lang="en-US" sz="3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4BFA0-DCB5-5341-8255-672D4DCA3B2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299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Dominant Strategies</a:t>
            </a: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Aft>
                <a:spcPct val="20000"/>
              </a:spcAft>
            </a:pPr>
            <a:endParaRPr lang="en-US" dirty="0" smtClean="0">
              <a:solidFill>
                <a:srgbClr val="5F3EEA"/>
              </a:solidFill>
            </a:endParaRPr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dirty="0" err="1" smtClean="0">
                <a:solidFill>
                  <a:srgbClr val="5F3EEA"/>
                </a:solidFill>
              </a:rPr>
              <a:t>Defn</a:t>
            </a:r>
            <a:r>
              <a:rPr lang="en-US" dirty="0" smtClean="0">
                <a:solidFill>
                  <a:srgbClr val="5F3EEA"/>
                </a:solidFill>
              </a:rPr>
              <a:t>: Action </a:t>
            </a:r>
            <a:r>
              <a:rPr lang="en-US" i="1" dirty="0" err="1" smtClean="0">
                <a:solidFill>
                  <a:srgbClr val="5F3EEA"/>
                </a:solidFill>
              </a:rPr>
              <a:t>a</a:t>
            </a:r>
            <a:r>
              <a:rPr lang="en-US" i="1" baseline="-25000" dirty="0" err="1" smtClean="0">
                <a:solidFill>
                  <a:srgbClr val="5F3EEA"/>
                </a:solidFill>
              </a:rPr>
              <a:t>i</a:t>
            </a:r>
            <a:r>
              <a:rPr lang="en-US" i="1" baseline="-25000" dirty="0" smtClean="0">
                <a:solidFill>
                  <a:srgbClr val="5F3EEA"/>
                </a:solidFill>
              </a:rPr>
              <a:t> </a:t>
            </a:r>
            <a:r>
              <a:rPr lang="en-US" dirty="0" smtClean="0">
                <a:solidFill>
                  <a:srgbClr val="5F3EEA"/>
                </a:solidFill>
              </a:rPr>
              <a:t>is a </a:t>
            </a:r>
            <a:r>
              <a:rPr lang="en-US" i="1" dirty="0" smtClean="0">
                <a:solidFill>
                  <a:srgbClr val="5F3EEA"/>
                </a:solidFill>
              </a:rPr>
              <a:t>dominant strategy </a:t>
            </a:r>
            <a:r>
              <a:rPr lang="en-US" dirty="0" smtClean="0">
                <a:solidFill>
                  <a:srgbClr val="5F3EEA"/>
                </a:solidFill>
              </a:rPr>
              <a:t>for player </a:t>
            </a:r>
            <a:r>
              <a:rPr lang="en-US" i="1" dirty="0" err="1" smtClean="0">
                <a:solidFill>
                  <a:srgbClr val="5F3EEA"/>
                </a:solidFill>
              </a:rPr>
              <a:t>i</a:t>
            </a:r>
            <a:r>
              <a:rPr lang="en-US" i="1" dirty="0" smtClean="0">
                <a:solidFill>
                  <a:srgbClr val="5F3EEA"/>
                </a:solidFill>
              </a:rPr>
              <a:t> </a:t>
            </a:r>
            <a:r>
              <a:rPr lang="en-US" dirty="0" smtClean="0">
                <a:solidFill>
                  <a:srgbClr val="5F3EEA"/>
                </a:solidFill>
              </a:rPr>
              <a:t>for all </a:t>
            </a:r>
            <a:r>
              <a:rPr lang="en-US" i="1" dirty="0" err="1" smtClean="0">
                <a:solidFill>
                  <a:srgbClr val="5F3EEA"/>
                </a:solidFill>
              </a:rPr>
              <a:t>a</a:t>
            </a:r>
            <a:r>
              <a:rPr lang="en-US" i="1" baseline="-25000" dirty="0" err="1" smtClean="0">
                <a:solidFill>
                  <a:srgbClr val="5F3EEA"/>
                </a:solidFill>
              </a:rPr>
              <a:t>i</a:t>
            </a:r>
            <a:r>
              <a:rPr lang="en-US" i="1" dirty="0" smtClean="0">
                <a:solidFill>
                  <a:srgbClr val="5F3EEA"/>
                </a:solidFill>
              </a:rPr>
              <a:t>’ </a:t>
            </a:r>
            <a:r>
              <a:rPr lang="en-US" dirty="0" smtClean="0">
                <a:solidFill>
                  <a:srgbClr val="5F3EEA"/>
                </a:solidFill>
              </a:rPr>
              <a:t>and </a:t>
            </a:r>
            <a:r>
              <a:rPr lang="en-US" i="1" dirty="0" smtClean="0">
                <a:solidFill>
                  <a:srgbClr val="5F3EEA"/>
                </a:solidFill>
              </a:rPr>
              <a:t>a</a:t>
            </a:r>
            <a:r>
              <a:rPr lang="en-US" i="1" baseline="-25000" dirty="0" smtClean="0">
                <a:solidFill>
                  <a:srgbClr val="5F3EEA"/>
                </a:solidFill>
              </a:rPr>
              <a:t>-I</a:t>
            </a:r>
            <a:r>
              <a:rPr lang="en-US" i="1" dirty="0" smtClean="0">
                <a:solidFill>
                  <a:srgbClr val="5F3EEA"/>
                </a:solidFill>
              </a:rPr>
              <a:t>,</a:t>
            </a:r>
          </a:p>
          <a:p>
            <a:pPr marL="0" indent="0" algn="ctr">
              <a:lnSpc>
                <a:spcPct val="90000"/>
              </a:lnSpc>
              <a:spcAft>
                <a:spcPct val="20000"/>
              </a:spcAft>
              <a:buNone/>
            </a:pPr>
            <a:r>
              <a:rPr lang="en-US" dirty="0" smtClean="0">
                <a:solidFill>
                  <a:srgbClr val="5F3EEA"/>
                </a:solidFill>
              </a:rPr>
              <a:t> </a:t>
            </a:r>
            <a:r>
              <a:rPr lang="en-US" i="1" dirty="0" err="1" smtClean="0">
                <a:solidFill>
                  <a:srgbClr val="5F3EEA"/>
                </a:solidFill>
              </a:rPr>
              <a:t>u</a:t>
            </a:r>
            <a:r>
              <a:rPr lang="en-US" i="1" baseline="-25000" dirty="0" err="1" smtClean="0">
                <a:solidFill>
                  <a:srgbClr val="5F3EEA"/>
                </a:solidFill>
              </a:rPr>
              <a:t>i</a:t>
            </a:r>
            <a:r>
              <a:rPr lang="en-US" i="1" dirty="0" smtClean="0">
                <a:solidFill>
                  <a:srgbClr val="5F3EEA"/>
                </a:solidFill>
              </a:rPr>
              <a:t>(</a:t>
            </a:r>
            <a:r>
              <a:rPr lang="en-US" i="1" dirty="0" err="1" smtClean="0">
                <a:solidFill>
                  <a:srgbClr val="5F3EEA"/>
                </a:solidFill>
              </a:rPr>
              <a:t>a</a:t>
            </a:r>
            <a:r>
              <a:rPr lang="en-US" i="1" baseline="-25000" dirty="0" err="1" smtClean="0">
                <a:solidFill>
                  <a:srgbClr val="5F3EEA"/>
                </a:solidFill>
              </a:rPr>
              <a:t>i</a:t>
            </a:r>
            <a:r>
              <a:rPr lang="en-US" i="1" dirty="0" err="1" smtClean="0">
                <a:solidFill>
                  <a:srgbClr val="5F3EEA"/>
                </a:solidFill>
              </a:rPr>
              <a:t>,a</a:t>
            </a:r>
            <a:r>
              <a:rPr lang="en-US" i="1" baseline="-25000" dirty="0" err="1" smtClean="0">
                <a:solidFill>
                  <a:srgbClr val="5F3EEA"/>
                </a:solidFill>
              </a:rPr>
              <a:t>-i</a:t>
            </a:r>
            <a:r>
              <a:rPr lang="en-US" i="1" dirty="0" smtClean="0">
                <a:solidFill>
                  <a:srgbClr val="5F3EEA"/>
                </a:solidFill>
              </a:rPr>
              <a:t>)</a:t>
            </a:r>
            <a:r>
              <a:rPr lang="en-US" b="0" i="1" dirty="0" smtClean="0">
                <a:solidFill>
                  <a:srgbClr val="5F3EEA"/>
                </a:solidFill>
                <a:latin typeface="ＭＳ ゴシック"/>
                <a:ea typeface="ＭＳ ゴシック"/>
                <a:cs typeface="ＭＳ ゴシック"/>
              </a:rPr>
              <a:t>≥</a:t>
            </a:r>
            <a:r>
              <a:rPr lang="en-US" i="1" dirty="0" err="1" smtClean="0">
                <a:solidFill>
                  <a:srgbClr val="5F3EEA"/>
                </a:solidFill>
              </a:rPr>
              <a:t>u</a:t>
            </a:r>
            <a:r>
              <a:rPr lang="en-US" i="1" baseline="-25000" dirty="0" err="1" smtClean="0">
                <a:solidFill>
                  <a:srgbClr val="5F3EEA"/>
                </a:solidFill>
              </a:rPr>
              <a:t>i</a:t>
            </a:r>
            <a:r>
              <a:rPr lang="en-US" i="1" dirty="0" smtClean="0">
                <a:solidFill>
                  <a:srgbClr val="5F3EEA"/>
                </a:solidFill>
              </a:rPr>
              <a:t>(</a:t>
            </a:r>
            <a:r>
              <a:rPr lang="en-US" i="1" dirty="0" err="1" smtClean="0">
                <a:solidFill>
                  <a:srgbClr val="5F3EEA"/>
                </a:solidFill>
              </a:rPr>
              <a:t>a</a:t>
            </a:r>
            <a:r>
              <a:rPr lang="en-US" i="1" baseline="-25000" dirty="0" err="1" smtClean="0">
                <a:solidFill>
                  <a:srgbClr val="5F3EEA"/>
                </a:solidFill>
              </a:rPr>
              <a:t>i</a:t>
            </a:r>
            <a:r>
              <a:rPr lang="en-US" i="1" dirty="0" smtClean="0">
                <a:solidFill>
                  <a:srgbClr val="5F3EEA"/>
                </a:solidFill>
              </a:rPr>
              <a:t>’,a</a:t>
            </a:r>
            <a:r>
              <a:rPr lang="en-US" i="1" baseline="-25000" dirty="0" smtClean="0">
                <a:solidFill>
                  <a:srgbClr val="5F3EEA"/>
                </a:solidFill>
              </a:rPr>
              <a:t>-</a:t>
            </a:r>
            <a:r>
              <a:rPr lang="en-US" i="1" baseline="-25000" dirty="0" err="1" smtClean="0">
                <a:solidFill>
                  <a:srgbClr val="5F3EEA"/>
                </a:solidFill>
              </a:rPr>
              <a:t>i</a:t>
            </a:r>
            <a:r>
              <a:rPr lang="en-US" i="1" dirty="0" smtClean="0">
                <a:solidFill>
                  <a:srgbClr val="5F3EEA"/>
                </a:solidFill>
              </a:rPr>
              <a:t>)</a:t>
            </a:r>
            <a:endParaRPr lang="en-US" dirty="0" smtClean="0">
              <a:solidFill>
                <a:srgbClr val="5F3EEA"/>
              </a:solidFill>
            </a:endParaRPr>
          </a:p>
          <a:p>
            <a:pPr marL="0" indent="0">
              <a:lnSpc>
                <a:spcPct val="90000"/>
              </a:lnSpc>
              <a:spcAft>
                <a:spcPct val="20000"/>
              </a:spcAft>
              <a:buNone/>
            </a:pPr>
            <a:endParaRPr lang="en-US" dirty="0" smtClean="0"/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dirty="0" smtClean="0"/>
              <a:t>In other words, player </a:t>
            </a:r>
            <a:r>
              <a:rPr lang="en-US" i="1" dirty="0" err="1" smtClean="0"/>
              <a:t>i</a:t>
            </a:r>
            <a:r>
              <a:rPr lang="en-US" i="1" dirty="0" smtClean="0"/>
              <a:t> </a:t>
            </a:r>
            <a:r>
              <a:rPr lang="en-US" dirty="0" smtClean="0"/>
              <a:t>has a dominant strategy if she has an action that is optimal </a:t>
            </a:r>
            <a:r>
              <a:rPr lang="en-US" i="1" dirty="0" smtClean="0"/>
              <a:t>regardless </a:t>
            </a:r>
            <a:r>
              <a:rPr lang="en-US" dirty="0" smtClean="0"/>
              <a:t>of how other players play.</a:t>
            </a:r>
            <a:r>
              <a:rPr lang="en-US" i="1" dirty="0" smtClean="0">
                <a:solidFill>
                  <a:srgbClr val="5F3EEA"/>
                </a:solidFill>
              </a:rPr>
              <a:t> </a:t>
            </a:r>
            <a:endParaRPr lang="en-US" i="1" baseline="-25000" dirty="0">
              <a:solidFill>
                <a:srgbClr val="5F3EEA"/>
              </a:solidFill>
            </a:endParaRP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endParaRPr lang="en-US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4BFA0-DCB5-5341-8255-672D4DCA3B2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299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934915"/>
              </p:ext>
            </p:extLst>
          </p:nvPr>
        </p:nvGraphicFramePr>
        <p:xfrm>
          <a:off x="1905000" y="1981200"/>
          <a:ext cx="5638800" cy="3505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79600"/>
                <a:gridCol w="1879600"/>
                <a:gridCol w="1879600"/>
              </a:tblGrid>
              <a:tr h="1168400">
                <a:tc>
                  <a:txBody>
                    <a:bodyPr/>
                    <a:lstStyle/>
                    <a:p>
                      <a:pPr algn="ctr"/>
                      <a:endParaRPr lang="en-US" sz="3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3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3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84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3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 smtClean="0">
                          <a:solidFill>
                            <a:schemeClr val="tx1"/>
                          </a:solidFill>
                        </a:rPr>
                        <a:t>4 , 4</a:t>
                      </a:r>
                      <a:endParaRPr lang="en-US" sz="3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 smtClean="0">
                          <a:solidFill>
                            <a:schemeClr val="tx1"/>
                          </a:solidFill>
                        </a:rPr>
                        <a:t>0 , 3</a:t>
                      </a:r>
                      <a:endParaRPr lang="en-US" sz="3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84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3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 smtClean="0">
                          <a:solidFill>
                            <a:schemeClr val="tx1"/>
                          </a:solidFill>
                        </a:rPr>
                        <a:t>3 ,</a:t>
                      </a:r>
                      <a:r>
                        <a:rPr lang="en-US" sz="3000" b="1" baseline="0" dirty="0" smtClean="0">
                          <a:solidFill>
                            <a:schemeClr val="tx1"/>
                          </a:solidFill>
                        </a:rPr>
                        <a:t> 0</a:t>
                      </a:r>
                      <a:endParaRPr lang="en-US" sz="3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 smtClean="0">
                          <a:solidFill>
                            <a:schemeClr val="tx1"/>
                          </a:solidFill>
                        </a:rPr>
                        <a:t>2 , 2</a:t>
                      </a:r>
                      <a:endParaRPr lang="en-US" sz="3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4BFA0-DCB5-5341-8255-672D4DCA3B2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84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Nash Equilibrium</a:t>
            </a: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Aft>
                <a:spcPct val="20000"/>
              </a:spcAft>
            </a:pPr>
            <a:endParaRPr lang="en-US" dirty="0" smtClean="0">
              <a:solidFill>
                <a:srgbClr val="5F3EEA"/>
              </a:solidFill>
            </a:endParaRPr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dirty="0" smtClean="0">
                <a:solidFill>
                  <a:srgbClr val="5F3EEA"/>
                </a:solidFill>
              </a:rPr>
              <a:t>The action</a:t>
            </a:r>
            <a:r>
              <a:rPr lang="en-US" i="1" dirty="0" smtClean="0">
                <a:solidFill>
                  <a:srgbClr val="5F3EEA"/>
                </a:solidFill>
              </a:rPr>
              <a:t> </a:t>
            </a:r>
            <a:r>
              <a:rPr lang="en-US" dirty="0" smtClean="0">
                <a:solidFill>
                  <a:srgbClr val="5F3EEA"/>
                </a:solidFill>
              </a:rPr>
              <a:t>profile</a:t>
            </a:r>
            <a:r>
              <a:rPr lang="en-US" i="1" dirty="0" smtClean="0">
                <a:solidFill>
                  <a:srgbClr val="5F3EEA"/>
                </a:solidFill>
              </a:rPr>
              <a:t> a</a:t>
            </a:r>
            <a:r>
              <a:rPr lang="en-US" i="1" baseline="-25000" dirty="0" smtClean="0">
                <a:solidFill>
                  <a:srgbClr val="5F3EEA"/>
                </a:solidFill>
              </a:rPr>
              <a:t>1</a:t>
            </a:r>
            <a:r>
              <a:rPr lang="en-US" i="1" dirty="0" smtClean="0">
                <a:solidFill>
                  <a:srgbClr val="5F3EEA"/>
                </a:solidFill>
              </a:rPr>
              <a:t>,…,a</a:t>
            </a:r>
            <a:r>
              <a:rPr lang="en-US" i="1" baseline="-25000" dirty="0" smtClean="0">
                <a:solidFill>
                  <a:srgbClr val="5F3EEA"/>
                </a:solidFill>
              </a:rPr>
              <a:t>n </a:t>
            </a:r>
            <a:r>
              <a:rPr lang="en-US" dirty="0" smtClean="0">
                <a:solidFill>
                  <a:srgbClr val="5F3EEA"/>
                </a:solidFill>
              </a:rPr>
              <a:t>is a </a:t>
            </a:r>
            <a:r>
              <a:rPr lang="en-US" i="1" dirty="0" smtClean="0">
                <a:solidFill>
                  <a:srgbClr val="5F3EEA"/>
                </a:solidFill>
              </a:rPr>
              <a:t>Nash Equilibrium </a:t>
            </a:r>
            <a:r>
              <a:rPr lang="en-US" dirty="0" smtClean="0">
                <a:solidFill>
                  <a:srgbClr val="5F3EEA"/>
                </a:solidFill>
              </a:rPr>
              <a:t>if for each player </a:t>
            </a:r>
            <a:r>
              <a:rPr lang="en-US" i="1" dirty="0" err="1" smtClean="0">
                <a:solidFill>
                  <a:srgbClr val="5F3EEA"/>
                </a:solidFill>
              </a:rPr>
              <a:t>i</a:t>
            </a:r>
            <a:r>
              <a:rPr lang="en-US" dirty="0" smtClean="0">
                <a:solidFill>
                  <a:srgbClr val="5F3EEA"/>
                </a:solidFill>
              </a:rPr>
              <a:t>, and action </a:t>
            </a:r>
            <a:r>
              <a:rPr lang="en-US" i="1" dirty="0" err="1" smtClean="0">
                <a:solidFill>
                  <a:srgbClr val="5F3EEA"/>
                </a:solidFill>
              </a:rPr>
              <a:t>a</a:t>
            </a:r>
            <a:r>
              <a:rPr lang="en-US" i="1" baseline="-25000" dirty="0" err="1" smtClean="0">
                <a:solidFill>
                  <a:srgbClr val="5F3EEA"/>
                </a:solidFill>
              </a:rPr>
              <a:t>i</a:t>
            </a:r>
            <a:r>
              <a:rPr lang="en-US" i="1" dirty="0" smtClean="0">
                <a:solidFill>
                  <a:srgbClr val="5F3EEA"/>
                </a:solidFill>
              </a:rPr>
              <a:t>’,</a:t>
            </a:r>
            <a:r>
              <a:rPr lang="en-US" dirty="0" smtClean="0">
                <a:solidFill>
                  <a:srgbClr val="5F3EEA"/>
                </a:solidFill>
              </a:rPr>
              <a:t> </a:t>
            </a:r>
          </a:p>
          <a:p>
            <a:pPr marL="0" indent="0" algn="ctr">
              <a:lnSpc>
                <a:spcPct val="90000"/>
              </a:lnSpc>
              <a:spcAft>
                <a:spcPct val="20000"/>
              </a:spcAft>
              <a:buNone/>
            </a:pPr>
            <a:r>
              <a:rPr lang="en-US" i="1" dirty="0" err="1" smtClean="0">
                <a:solidFill>
                  <a:srgbClr val="5F3EEA"/>
                </a:solidFill>
              </a:rPr>
              <a:t>u</a:t>
            </a:r>
            <a:r>
              <a:rPr lang="en-US" i="1" baseline="-25000" dirty="0" err="1" smtClean="0">
                <a:solidFill>
                  <a:srgbClr val="5F3EEA"/>
                </a:solidFill>
              </a:rPr>
              <a:t>i</a:t>
            </a:r>
            <a:r>
              <a:rPr lang="en-US" i="1" dirty="0" smtClean="0">
                <a:solidFill>
                  <a:srgbClr val="5F3EEA"/>
                </a:solidFill>
              </a:rPr>
              <a:t>(</a:t>
            </a:r>
            <a:r>
              <a:rPr lang="en-US" i="1" dirty="0" err="1" smtClean="0">
                <a:solidFill>
                  <a:srgbClr val="5F3EEA"/>
                </a:solidFill>
              </a:rPr>
              <a:t>a</a:t>
            </a:r>
            <a:r>
              <a:rPr lang="en-US" i="1" baseline="-25000" dirty="0" err="1" smtClean="0">
                <a:solidFill>
                  <a:srgbClr val="5F3EEA"/>
                </a:solidFill>
              </a:rPr>
              <a:t>i</a:t>
            </a:r>
            <a:r>
              <a:rPr lang="en-US" i="1" dirty="0" err="1" smtClean="0">
                <a:solidFill>
                  <a:srgbClr val="5F3EEA"/>
                </a:solidFill>
              </a:rPr>
              <a:t>,a</a:t>
            </a:r>
            <a:r>
              <a:rPr lang="en-US" i="1" baseline="-25000" dirty="0" err="1" smtClean="0">
                <a:solidFill>
                  <a:srgbClr val="5F3EEA"/>
                </a:solidFill>
              </a:rPr>
              <a:t>-i</a:t>
            </a:r>
            <a:r>
              <a:rPr lang="en-US" i="1" dirty="0" smtClean="0">
                <a:solidFill>
                  <a:srgbClr val="5F3EEA"/>
                </a:solidFill>
              </a:rPr>
              <a:t>) </a:t>
            </a:r>
            <a:r>
              <a:rPr lang="en-US" b="0" i="1" dirty="0" smtClean="0">
                <a:solidFill>
                  <a:srgbClr val="5F3EEA"/>
                </a:solidFill>
                <a:latin typeface="ＭＳ ゴシック"/>
                <a:ea typeface="ＭＳ ゴシック"/>
                <a:cs typeface="ＭＳ ゴシック"/>
              </a:rPr>
              <a:t>≥ </a:t>
            </a:r>
            <a:r>
              <a:rPr lang="en-US" i="1" dirty="0" err="1" smtClean="0">
                <a:solidFill>
                  <a:srgbClr val="5F3EEA"/>
                </a:solidFill>
              </a:rPr>
              <a:t>u</a:t>
            </a:r>
            <a:r>
              <a:rPr lang="en-US" i="1" baseline="-25000" dirty="0" err="1" smtClean="0">
                <a:solidFill>
                  <a:srgbClr val="5F3EEA"/>
                </a:solidFill>
              </a:rPr>
              <a:t>i</a:t>
            </a:r>
            <a:r>
              <a:rPr lang="en-US" i="1" dirty="0" smtClean="0">
                <a:solidFill>
                  <a:srgbClr val="5F3EEA"/>
                </a:solidFill>
              </a:rPr>
              <a:t>(</a:t>
            </a:r>
            <a:r>
              <a:rPr lang="en-US" i="1" dirty="0" err="1" smtClean="0">
                <a:solidFill>
                  <a:srgbClr val="5F3EEA"/>
                </a:solidFill>
              </a:rPr>
              <a:t>a</a:t>
            </a:r>
            <a:r>
              <a:rPr lang="en-US" i="1" baseline="-25000" dirty="0" err="1" smtClean="0">
                <a:solidFill>
                  <a:srgbClr val="5F3EEA"/>
                </a:solidFill>
              </a:rPr>
              <a:t>i</a:t>
            </a:r>
            <a:r>
              <a:rPr lang="en-US" i="1" dirty="0" smtClean="0">
                <a:solidFill>
                  <a:srgbClr val="5F3EEA"/>
                </a:solidFill>
              </a:rPr>
              <a:t>’,a</a:t>
            </a:r>
            <a:r>
              <a:rPr lang="en-US" i="1" baseline="-25000" dirty="0" smtClean="0">
                <a:solidFill>
                  <a:srgbClr val="5F3EEA"/>
                </a:solidFill>
              </a:rPr>
              <a:t>-</a:t>
            </a:r>
            <a:r>
              <a:rPr lang="en-US" i="1" baseline="-25000" dirty="0" err="1" smtClean="0">
                <a:solidFill>
                  <a:srgbClr val="5F3EEA"/>
                </a:solidFill>
              </a:rPr>
              <a:t>i</a:t>
            </a:r>
            <a:r>
              <a:rPr lang="en-US" i="1" dirty="0" smtClean="0">
                <a:solidFill>
                  <a:srgbClr val="5F3EEA"/>
                </a:solidFill>
              </a:rPr>
              <a:t>).</a:t>
            </a:r>
          </a:p>
          <a:p>
            <a:pPr marL="0" indent="0">
              <a:lnSpc>
                <a:spcPct val="90000"/>
              </a:lnSpc>
              <a:spcAft>
                <a:spcPct val="20000"/>
              </a:spcAft>
              <a:buNone/>
            </a:pPr>
            <a:endParaRPr lang="en-US" dirty="0" smtClean="0"/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dirty="0" smtClean="0"/>
              <a:t>A Nash Equilibrium means that each player </a:t>
            </a:r>
            <a:r>
              <a:rPr lang="en-US" i="1" dirty="0" smtClean="0"/>
              <a:t>i’s </a:t>
            </a:r>
            <a:r>
              <a:rPr lang="en-US" dirty="0" smtClean="0"/>
              <a:t>action is optimal given the actions of the other players.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4BFA0-DCB5-5341-8255-672D4DCA3B2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135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Incomplete Information</a:t>
            </a: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dirty="0" smtClean="0"/>
              <a:t>What if the player don’t know each others payoff functions, e.g. in an auction don’t know the valuations of the other bidders?</a:t>
            </a:r>
          </a:p>
          <a:p>
            <a:pPr lvl="4">
              <a:lnSpc>
                <a:spcPct val="90000"/>
              </a:lnSpc>
              <a:spcAft>
                <a:spcPct val="20000"/>
              </a:spcAft>
            </a:pPr>
            <a:endParaRPr lang="en-US" dirty="0" smtClean="0"/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dirty="0" smtClean="0">
                <a:solidFill>
                  <a:srgbClr val="0070C0"/>
                </a:solidFill>
              </a:rPr>
              <a:t>Dominant strategy</a:t>
            </a:r>
            <a:r>
              <a:rPr lang="en-US" dirty="0" smtClean="0"/>
              <a:t> is still a dominant strategy: best action </a:t>
            </a:r>
            <a:r>
              <a:rPr lang="en-US" i="1" dirty="0" smtClean="0"/>
              <a:t>regardless of what others do</a:t>
            </a:r>
            <a:r>
              <a:rPr lang="en-US" dirty="0" smtClean="0"/>
              <a:t>.</a:t>
            </a:r>
          </a:p>
          <a:p>
            <a:pPr lvl="3">
              <a:lnSpc>
                <a:spcPct val="90000"/>
              </a:lnSpc>
              <a:spcAft>
                <a:spcPct val="20000"/>
              </a:spcAft>
            </a:pPr>
            <a:endParaRPr lang="en-US" dirty="0" smtClean="0"/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dirty="0" smtClean="0">
                <a:solidFill>
                  <a:srgbClr val="0070C0"/>
                </a:solidFill>
              </a:rPr>
              <a:t>(Bayesian) Nash equilibrium </a:t>
            </a:r>
            <a:r>
              <a:rPr lang="en-US" dirty="0" smtClean="0"/>
              <a:t>more subtle: each player uses best reply given correct probability assessment of what others will do.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4BFA0-DCB5-5341-8255-672D4DCA3B2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367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Allocation Problems</a:t>
            </a: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spcAft>
                <a:spcPct val="20000"/>
              </a:spcAft>
              <a:buNone/>
            </a:pPr>
            <a:endParaRPr lang="en-US" sz="1200" dirty="0">
              <a:solidFill>
                <a:srgbClr val="5F3EEA"/>
              </a:solidFill>
            </a:endParaRPr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sz="2800" dirty="0" smtClean="0">
                <a:solidFill>
                  <a:srgbClr val="5F3EEA"/>
                </a:solidFill>
              </a:rPr>
              <a:t>An </a:t>
            </a:r>
            <a:r>
              <a:rPr lang="en-US" sz="2800" i="1" dirty="0" smtClean="0">
                <a:solidFill>
                  <a:srgbClr val="5F3EEA"/>
                </a:solidFill>
              </a:rPr>
              <a:t>allocation problem </a:t>
            </a:r>
            <a:r>
              <a:rPr lang="en-US" sz="2800" dirty="0" smtClean="0">
                <a:solidFill>
                  <a:srgbClr val="5F3EEA"/>
                </a:solidFill>
              </a:rPr>
              <a:t>consists of</a:t>
            </a:r>
            <a:endParaRPr lang="en-US" sz="2800" i="1" dirty="0">
              <a:solidFill>
                <a:srgbClr val="5F3EEA"/>
              </a:solidFill>
            </a:endParaRP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sz="2400" dirty="0" smtClean="0"/>
              <a:t>Players </a:t>
            </a:r>
            <a:r>
              <a:rPr lang="en-US" sz="2400" i="1" dirty="0" err="1" smtClean="0"/>
              <a:t>i</a:t>
            </a:r>
            <a:r>
              <a:rPr lang="en-US" sz="2400" i="1" dirty="0" smtClean="0"/>
              <a:t>=1,…,n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sz="2400" dirty="0" smtClean="0"/>
              <a:t>A set of possible outcomes or allocations </a:t>
            </a:r>
            <a:r>
              <a:rPr lang="en-US" sz="2400" i="1" dirty="0" smtClean="0"/>
              <a:t>X</a:t>
            </a:r>
            <a:r>
              <a:rPr lang="en-US" sz="2400" dirty="0" smtClean="0"/>
              <a:t>, and (possibly) payments by each player </a:t>
            </a:r>
            <a:r>
              <a:rPr lang="en-US" sz="2400" i="1" dirty="0" smtClean="0"/>
              <a:t>p</a:t>
            </a:r>
            <a:r>
              <a:rPr lang="en-US" sz="2400" i="1" baseline="-25000" dirty="0" smtClean="0"/>
              <a:t>1</a:t>
            </a:r>
            <a:r>
              <a:rPr lang="en-US" sz="2400" i="1" dirty="0" smtClean="0"/>
              <a:t>,…,</a:t>
            </a:r>
            <a:r>
              <a:rPr lang="en-US" sz="2400" i="1" dirty="0" err="1" smtClean="0"/>
              <a:t>p</a:t>
            </a:r>
            <a:r>
              <a:rPr lang="en-US" sz="2400" i="1" baseline="-25000" dirty="0" err="1" smtClean="0"/>
              <a:t>n</a:t>
            </a:r>
            <a:r>
              <a:rPr lang="en-US" sz="2400" dirty="0" smtClean="0"/>
              <a:t>.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sz="2400" dirty="0" smtClean="0"/>
              <a:t>Payoff function for each player: </a:t>
            </a:r>
            <a:r>
              <a:rPr lang="en-US" sz="2400" i="1" dirty="0" smtClean="0"/>
              <a:t>v</a:t>
            </a:r>
            <a:r>
              <a:rPr lang="en-US" sz="2400" i="1" baseline="-25000" dirty="0" smtClean="0"/>
              <a:t>i</a:t>
            </a:r>
            <a:r>
              <a:rPr lang="en-US" sz="2400" i="1" dirty="0" smtClean="0"/>
              <a:t>(x) – p</a:t>
            </a:r>
            <a:r>
              <a:rPr lang="en-US" sz="2400" i="1" baseline="-25000" dirty="0" smtClean="0"/>
              <a:t>i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endParaRPr lang="en-US" sz="2400" i="1" baseline="-25000" dirty="0"/>
          </a:p>
          <a:p>
            <a:pPr lvl="1">
              <a:lnSpc>
                <a:spcPct val="90000"/>
              </a:lnSpc>
              <a:spcAft>
                <a:spcPct val="20000"/>
              </a:spcAft>
            </a:pPr>
            <a:endParaRPr lang="en-US" sz="2400" i="1" baseline="-25000" dirty="0" smtClean="0"/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sz="2800" dirty="0" smtClean="0"/>
              <a:t>Problem in mechanism design is that the designer may not know the payoff functions!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4BFA0-DCB5-5341-8255-672D4DCA3B2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523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“Good” Allocations</a:t>
            </a: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spcAft>
                <a:spcPct val="20000"/>
              </a:spcAft>
              <a:buNone/>
            </a:pPr>
            <a:endParaRPr lang="en-US" sz="2600" dirty="0" smtClean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sz="2600" dirty="0" smtClean="0">
                <a:solidFill>
                  <a:srgbClr val="000000"/>
                </a:solidFill>
              </a:rPr>
              <a:t>In different settings, we will try to define “good” allocations or outcomes. </a:t>
            </a:r>
          </a:p>
          <a:p>
            <a:pPr marL="0" indent="0">
              <a:lnSpc>
                <a:spcPct val="90000"/>
              </a:lnSpc>
              <a:spcAft>
                <a:spcPct val="20000"/>
              </a:spcAft>
              <a:buNone/>
            </a:pPr>
            <a:endParaRPr lang="en-US" sz="2600" dirty="0" smtClean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sz="2600" dirty="0" smtClean="0">
                <a:solidFill>
                  <a:srgbClr val="000000"/>
                </a:solidFill>
              </a:rPr>
              <a:t>In auction problems, a “good” allocation might be one that is Pareto efficient given everyone’s values.</a:t>
            </a:r>
          </a:p>
          <a:p>
            <a:pPr lvl="2">
              <a:lnSpc>
                <a:spcPct val="90000"/>
              </a:lnSpc>
              <a:spcAft>
                <a:spcPct val="20000"/>
              </a:spcAft>
            </a:pPr>
            <a:endParaRPr lang="en-US" sz="19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sz="2600" dirty="0" smtClean="0">
                <a:solidFill>
                  <a:srgbClr val="000000"/>
                </a:solidFill>
              </a:rPr>
              <a:t>In matching problems, a “good” allocation might be one that is “stable” (to be defined in the next class!).</a:t>
            </a:r>
            <a:endParaRPr lang="en-US" sz="2600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4BFA0-DCB5-5341-8255-672D4DCA3B2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49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Mechanisms</a:t>
            </a: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spcAft>
                <a:spcPct val="20000"/>
              </a:spcAft>
              <a:buNone/>
            </a:pPr>
            <a:endParaRPr lang="en-US" sz="1200" dirty="0">
              <a:solidFill>
                <a:srgbClr val="5F3EEA"/>
              </a:solidFill>
            </a:endParaRPr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sz="2800" dirty="0" smtClean="0">
                <a:solidFill>
                  <a:srgbClr val="5F3EEA"/>
                </a:solidFill>
              </a:rPr>
              <a:t>A </a:t>
            </a:r>
            <a:r>
              <a:rPr lang="en-US" sz="2800" i="1" dirty="0" smtClean="0">
                <a:solidFill>
                  <a:srgbClr val="5F3EEA"/>
                </a:solidFill>
              </a:rPr>
              <a:t>mechanism </a:t>
            </a:r>
            <a:r>
              <a:rPr lang="en-US" sz="2800" dirty="0" smtClean="0">
                <a:solidFill>
                  <a:srgbClr val="5F3EEA"/>
                </a:solidFill>
              </a:rPr>
              <a:t>consists of</a:t>
            </a:r>
            <a:endParaRPr lang="en-US" sz="2800" i="1" dirty="0">
              <a:solidFill>
                <a:srgbClr val="5F3EEA"/>
              </a:solidFill>
            </a:endParaRP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sz="2400" dirty="0" smtClean="0"/>
              <a:t>A set of possible </a:t>
            </a:r>
            <a:r>
              <a:rPr lang="en-US" sz="2400" i="1" dirty="0" smtClean="0"/>
              <a:t>messages </a:t>
            </a:r>
            <a:r>
              <a:rPr lang="en-US" sz="2400" dirty="0" smtClean="0"/>
              <a:t>for each player: </a:t>
            </a:r>
            <a:r>
              <a:rPr lang="en-US" sz="2400" i="1" dirty="0" smtClean="0"/>
              <a:t>M</a:t>
            </a:r>
            <a:r>
              <a:rPr lang="en-US" sz="2400" i="1" baseline="-25000" dirty="0" smtClean="0"/>
              <a:t>1</a:t>
            </a:r>
            <a:r>
              <a:rPr lang="en-US" sz="2400" i="1" dirty="0" smtClean="0"/>
              <a:t>,…,</a:t>
            </a:r>
            <a:r>
              <a:rPr lang="en-US" sz="2400" i="1" dirty="0" err="1" smtClean="0"/>
              <a:t>M</a:t>
            </a:r>
            <a:r>
              <a:rPr lang="en-US" sz="2400" i="1" baseline="-25000" dirty="0" err="1" smtClean="0"/>
              <a:t>n</a:t>
            </a:r>
            <a:endParaRPr lang="en-US" sz="2400" baseline="-25000" dirty="0" smtClean="0"/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sz="2400" dirty="0" smtClean="0"/>
              <a:t>An allocation rule: </a:t>
            </a:r>
            <a:r>
              <a:rPr lang="en-US" sz="2400" i="1" dirty="0" smtClean="0"/>
              <a:t>x(m</a:t>
            </a:r>
            <a:r>
              <a:rPr lang="en-US" sz="2400" i="1" baseline="-25000" dirty="0" smtClean="0"/>
              <a:t>1</a:t>
            </a:r>
            <a:r>
              <a:rPr lang="en-US" sz="2400" i="1" dirty="0" smtClean="0"/>
              <a:t>,…,</a:t>
            </a:r>
            <a:r>
              <a:rPr lang="en-US" sz="2400" i="1" dirty="0" err="1" smtClean="0"/>
              <a:t>m</a:t>
            </a:r>
            <a:r>
              <a:rPr lang="en-US" sz="2400" i="1" baseline="-25000" dirty="0" err="1" smtClean="0"/>
              <a:t>n</a:t>
            </a:r>
            <a:r>
              <a:rPr lang="en-US" sz="2400" i="1" dirty="0" smtClean="0"/>
              <a:t>)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sz="2400" dirty="0"/>
              <a:t>A</a:t>
            </a:r>
            <a:r>
              <a:rPr lang="en-US" sz="2400" dirty="0" smtClean="0"/>
              <a:t> payment rule: </a:t>
            </a:r>
            <a:r>
              <a:rPr lang="en-US" sz="2400" i="1" dirty="0" smtClean="0"/>
              <a:t>p</a:t>
            </a:r>
            <a:r>
              <a:rPr lang="en-US" sz="2400" i="1" baseline="-25000" dirty="0" smtClean="0"/>
              <a:t>1</a:t>
            </a:r>
            <a:r>
              <a:rPr lang="en-US" sz="2400" i="1" dirty="0" smtClean="0"/>
              <a:t>(m</a:t>
            </a:r>
            <a:r>
              <a:rPr lang="en-US" sz="2400" i="1" baseline="-25000" dirty="0" smtClean="0"/>
              <a:t>1</a:t>
            </a:r>
            <a:r>
              <a:rPr lang="en-US" sz="2400" i="1" dirty="0" smtClean="0"/>
              <a:t>,…,</a:t>
            </a:r>
            <a:r>
              <a:rPr lang="en-US" sz="2400" i="1" dirty="0" err="1" smtClean="0"/>
              <a:t>m</a:t>
            </a:r>
            <a:r>
              <a:rPr lang="en-US" sz="2400" i="1" baseline="-25000" dirty="0" err="1" smtClean="0"/>
              <a:t>n</a:t>
            </a:r>
            <a:r>
              <a:rPr lang="en-US" sz="2400" i="1" dirty="0" smtClean="0"/>
              <a:t>),…, </a:t>
            </a:r>
            <a:r>
              <a:rPr lang="en-US" sz="2400" i="1" dirty="0" err="1" smtClean="0"/>
              <a:t>p</a:t>
            </a:r>
            <a:r>
              <a:rPr lang="en-US" sz="2400" i="1" baseline="-25000" dirty="0" err="1" smtClean="0"/>
              <a:t>n</a:t>
            </a:r>
            <a:r>
              <a:rPr lang="en-US" sz="2400" i="1" dirty="0" smtClean="0"/>
              <a:t>(m</a:t>
            </a:r>
            <a:r>
              <a:rPr lang="en-US" sz="2400" i="1" baseline="-25000" dirty="0" smtClean="0"/>
              <a:t>1</a:t>
            </a:r>
            <a:r>
              <a:rPr lang="en-US" sz="2400" i="1" dirty="0" smtClean="0"/>
              <a:t>,…,</a:t>
            </a:r>
            <a:r>
              <a:rPr lang="en-US" sz="2400" i="1" dirty="0" err="1" smtClean="0"/>
              <a:t>m</a:t>
            </a:r>
            <a:r>
              <a:rPr lang="en-US" sz="2400" i="1" baseline="-25000" dirty="0" err="1" smtClean="0"/>
              <a:t>n</a:t>
            </a:r>
            <a:r>
              <a:rPr lang="en-US" sz="2400" i="1" dirty="0" smtClean="0"/>
              <a:t>)</a:t>
            </a:r>
          </a:p>
          <a:p>
            <a:pPr lvl="3">
              <a:lnSpc>
                <a:spcPct val="90000"/>
              </a:lnSpc>
              <a:spcAft>
                <a:spcPct val="20000"/>
              </a:spcAft>
            </a:pPr>
            <a:endParaRPr lang="en-US" sz="1800" dirty="0" smtClean="0"/>
          </a:p>
          <a:p>
            <a:pPr lvl="1">
              <a:lnSpc>
                <a:spcPct val="90000"/>
              </a:lnSpc>
              <a:spcAft>
                <a:spcPct val="20000"/>
              </a:spcAft>
            </a:pPr>
            <a:endParaRPr lang="en-US" sz="2400" dirty="0"/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sz="2800" dirty="0" smtClean="0"/>
              <a:t>We will look at mechanisms with and without payments – if no payments, ignore the p’s.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4BFA0-DCB5-5341-8255-672D4DCA3B2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025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of Mechanisms</a:t>
            </a: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3">
              <a:lnSpc>
                <a:spcPct val="90000"/>
              </a:lnSpc>
              <a:spcAft>
                <a:spcPct val="20000"/>
              </a:spcAft>
            </a:pPr>
            <a:endParaRPr lang="en-US" sz="1400" dirty="0" smtClean="0"/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sz="2400" dirty="0" smtClean="0"/>
              <a:t>In auction problems, a type might be a person’s value, the messages are the bids, and the auction mechanism says who wins given the bids and what they pay.</a:t>
            </a:r>
          </a:p>
          <a:p>
            <a:pPr lvl="3">
              <a:lnSpc>
                <a:spcPct val="90000"/>
              </a:lnSpc>
              <a:spcAft>
                <a:spcPct val="20000"/>
              </a:spcAft>
            </a:pPr>
            <a:endParaRPr lang="en-US" sz="2400" dirty="0"/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sz="2400" dirty="0" smtClean="0"/>
              <a:t>In matching problems, a type might be a person’s preferences, the messages are statements of preferences (not necessarily truthful), and the matching mechanism says who gets matched to whom or what given the stated preferences.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4BFA0-DCB5-5341-8255-672D4DCA3B2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417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Mechanisms and Games</a:t>
            </a: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spcAft>
                <a:spcPct val="20000"/>
              </a:spcAft>
              <a:buNone/>
            </a:pPr>
            <a:endParaRPr lang="en-US" sz="1200" dirty="0">
              <a:solidFill>
                <a:srgbClr val="5F3EEA"/>
              </a:solidFill>
            </a:endParaRPr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sz="2800" dirty="0" smtClean="0">
                <a:solidFill>
                  <a:srgbClr val="5F3EEA"/>
                </a:solidFill>
              </a:rPr>
              <a:t>A </a:t>
            </a:r>
            <a:r>
              <a:rPr lang="en-US" sz="2800" i="1" dirty="0" smtClean="0">
                <a:solidFill>
                  <a:srgbClr val="5F3EEA"/>
                </a:solidFill>
              </a:rPr>
              <a:t>mechanism </a:t>
            </a:r>
            <a:r>
              <a:rPr lang="en-US" sz="2800" dirty="0" smtClean="0">
                <a:solidFill>
                  <a:srgbClr val="5F3EEA"/>
                </a:solidFill>
              </a:rPr>
              <a:t>defines a game</a:t>
            </a:r>
            <a:endParaRPr lang="en-US" sz="2800" i="1" dirty="0">
              <a:solidFill>
                <a:srgbClr val="5F3EEA"/>
              </a:solidFill>
            </a:endParaRP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sz="2400" dirty="0" smtClean="0"/>
              <a:t>The possible actions are the messages</a:t>
            </a:r>
            <a:r>
              <a:rPr lang="en-US" sz="2400" i="1" dirty="0" smtClean="0"/>
              <a:t>: M</a:t>
            </a:r>
            <a:r>
              <a:rPr lang="en-US" sz="2400" i="1" baseline="-25000" dirty="0" smtClean="0"/>
              <a:t>1</a:t>
            </a:r>
            <a:r>
              <a:rPr lang="en-US" sz="2400" i="1" dirty="0" smtClean="0"/>
              <a:t>,…,</a:t>
            </a:r>
            <a:r>
              <a:rPr lang="en-US" sz="2400" i="1" dirty="0" err="1" smtClean="0"/>
              <a:t>M</a:t>
            </a:r>
            <a:r>
              <a:rPr lang="en-US" sz="2400" i="1" baseline="-25000" dirty="0" err="1" smtClean="0"/>
              <a:t>n</a:t>
            </a:r>
            <a:endParaRPr lang="en-US" sz="2400" baseline="-25000" dirty="0" smtClean="0"/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sz="2400" dirty="0" smtClean="0"/>
              <a:t>The payoffs are a function of the messages</a:t>
            </a:r>
          </a:p>
          <a:p>
            <a:pPr marL="344487" lvl="1" indent="0" algn="ctr">
              <a:lnSpc>
                <a:spcPct val="90000"/>
              </a:lnSpc>
              <a:spcAft>
                <a:spcPct val="20000"/>
              </a:spcAft>
              <a:buNone/>
            </a:pPr>
            <a:r>
              <a:rPr lang="en-US" sz="2400" dirty="0" err="1" smtClean="0"/>
              <a:t>u</a:t>
            </a:r>
            <a:r>
              <a:rPr lang="en-US" sz="2400" baseline="-25000" dirty="0" err="1" smtClean="0"/>
              <a:t>i</a:t>
            </a:r>
            <a:r>
              <a:rPr lang="en-US" sz="2400" dirty="0" smtClean="0"/>
              <a:t>(</a:t>
            </a:r>
            <a:r>
              <a:rPr lang="en-US" sz="2400" i="1" dirty="0" smtClean="0"/>
              <a:t>m</a:t>
            </a:r>
            <a:r>
              <a:rPr lang="en-US" sz="2400" i="1" baseline="-25000" dirty="0" smtClean="0"/>
              <a:t>1</a:t>
            </a:r>
            <a:r>
              <a:rPr lang="en-US" sz="2400" i="1" dirty="0" smtClean="0"/>
              <a:t>,…,</a:t>
            </a:r>
            <a:r>
              <a:rPr lang="en-US" sz="2400" i="1" dirty="0" err="1" smtClean="0"/>
              <a:t>m</a:t>
            </a:r>
            <a:r>
              <a:rPr lang="en-US" sz="2400" i="1" baseline="-25000" dirty="0" err="1" smtClean="0"/>
              <a:t>n</a:t>
            </a:r>
            <a:r>
              <a:rPr lang="en-US" sz="2400" dirty="0" smtClean="0"/>
              <a:t>) = v</a:t>
            </a:r>
            <a:r>
              <a:rPr lang="en-US" sz="2400" baseline="-25000" dirty="0" smtClean="0"/>
              <a:t>i</a:t>
            </a:r>
            <a:r>
              <a:rPr lang="en-US" sz="2400" dirty="0" smtClean="0"/>
              <a:t>(</a:t>
            </a:r>
            <a:r>
              <a:rPr lang="en-US" sz="2400" i="1" dirty="0" smtClean="0"/>
              <a:t>x(m</a:t>
            </a:r>
            <a:r>
              <a:rPr lang="en-US" sz="2400" i="1" baseline="-25000" dirty="0" smtClean="0"/>
              <a:t>1</a:t>
            </a:r>
            <a:r>
              <a:rPr lang="en-US" sz="2400" i="1" dirty="0" smtClean="0"/>
              <a:t>,…,</a:t>
            </a:r>
            <a:r>
              <a:rPr lang="en-US" sz="2400" i="1" dirty="0" err="1" smtClean="0"/>
              <a:t>m</a:t>
            </a:r>
            <a:r>
              <a:rPr lang="en-US" sz="2400" i="1" baseline="-25000" dirty="0" err="1" smtClean="0"/>
              <a:t>n</a:t>
            </a:r>
            <a:r>
              <a:rPr lang="en-US" sz="2400" i="1" dirty="0" smtClean="0"/>
              <a:t>)) - p</a:t>
            </a:r>
            <a:r>
              <a:rPr lang="en-US" sz="2400" baseline="-25000" dirty="0" smtClean="0"/>
              <a:t>i</a:t>
            </a:r>
            <a:r>
              <a:rPr lang="en-US" sz="2400" dirty="0" smtClean="0"/>
              <a:t>(</a:t>
            </a:r>
            <a:r>
              <a:rPr lang="en-US" sz="2400" i="1" dirty="0" smtClean="0"/>
              <a:t>m</a:t>
            </a:r>
            <a:r>
              <a:rPr lang="en-US" sz="2400" i="1" baseline="-25000" dirty="0" smtClean="0"/>
              <a:t>1</a:t>
            </a:r>
            <a:r>
              <a:rPr lang="en-US" sz="2400" i="1" dirty="0" smtClean="0"/>
              <a:t>,…,</a:t>
            </a:r>
            <a:r>
              <a:rPr lang="en-US" sz="2400" i="1" dirty="0" err="1" smtClean="0"/>
              <a:t>m</a:t>
            </a:r>
            <a:r>
              <a:rPr lang="en-US" sz="2400" i="1" baseline="-25000" dirty="0" err="1" smtClean="0"/>
              <a:t>n</a:t>
            </a:r>
            <a:r>
              <a:rPr lang="en-US" sz="2400" i="1" dirty="0" smtClean="0"/>
              <a:t>)</a:t>
            </a:r>
          </a:p>
          <a:p>
            <a:pPr marL="344487" lvl="1" indent="0" algn="ctr">
              <a:lnSpc>
                <a:spcPct val="90000"/>
              </a:lnSpc>
              <a:spcAft>
                <a:spcPct val="20000"/>
              </a:spcAft>
              <a:buNone/>
            </a:pPr>
            <a:endParaRPr lang="en-US" sz="2400" i="1" baseline="-25000" dirty="0"/>
          </a:p>
          <a:p>
            <a:pPr marL="344487" lvl="1" indent="0" algn="ctr">
              <a:lnSpc>
                <a:spcPct val="90000"/>
              </a:lnSpc>
              <a:spcAft>
                <a:spcPct val="20000"/>
              </a:spcAft>
              <a:buNone/>
            </a:pPr>
            <a:endParaRPr lang="en-US" sz="2400" i="1" baseline="-25000" dirty="0" smtClean="0"/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sz="2800" dirty="0" smtClean="0"/>
              <a:t>Sometimes we will focus on </a:t>
            </a:r>
            <a:r>
              <a:rPr lang="en-US" sz="2800" i="1" dirty="0" smtClean="0"/>
              <a:t>direct revelation mechanisms: </a:t>
            </a:r>
            <a:r>
              <a:rPr lang="en-US" sz="2800" dirty="0" err="1" smtClean="0"/>
              <a:t>M</a:t>
            </a:r>
            <a:r>
              <a:rPr lang="en-US" sz="2800" baseline="-25000" dirty="0" err="1" smtClean="0"/>
              <a:t>i</a:t>
            </a:r>
            <a:r>
              <a:rPr lang="en-US" sz="2800" baseline="-25000" dirty="0" smtClean="0"/>
              <a:t> </a:t>
            </a:r>
            <a:r>
              <a:rPr lang="en-US" sz="2800" dirty="0" smtClean="0"/>
              <a:t>is equal to the the set of </a:t>
            </a:r>
            <a:r>
              <a:rPr lang="en-US" sz="2800" i="1" dirty="0" smtClean="0"/>
              <a:t>i’s </a:t>
            </a:r>
            <a:r>
              <a:rPr lang="en-US" sz="2800" dirty="0" smtClean="0"/>
              <a:t>possible payoff functions (or equiv. preferences).</a:t>
            </a:r>
            <a:endParaRPr lang="en-US" sz="2800" baseline="-25000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4BFA0-DCB5-5341-8255-672D4DCA3B2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60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Strategy-proof Mechanisms </a:t>
            </a: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spcAft>
                <a:spcPct val="20000"/>
              </a:spcAft>
              <a:buNone/>
            </a:pPr>
            <a:endParaRPr lang="en-US" sz="1200" dirty="0">
              <a:solidFill>
                <a:srgbClr val="5F3EEA"/>
              </a:solidFill>
            </a:endParaRPr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sz="2600" dirty="0" smtClean="0">
                <a:solidFill>
                  <a:srgbClr val="000000"/>
                </a:solidFill>
              </a:rPr>
              <a:t>A </a:t>
            </a:r>
            <a:r>
              <a:rPr lang="en-US" sz="2600" i="1" dirty="0" smtClean="0">
                <a:solidFill>
                  <a:srgbClr val="000000"/>
                </a:solidFill>
              </a:rPr>
              <a:t>strategy </a:t>
            </a:r>
            <a:r>
              <a:rPr lang="en-US" sz="2600" dirty="0" smtClean="0">
                <a:solidFill>
                  <a:srgbClr val="000000"/>
                </a:solidFill>
              </a:rPr>
              <a:t>for player </a:t>
            </a:r>
            <a:r>
              <a:rPr lang="en-US" sz="2600" i="1" dirty="0" err="1" smtClean="0">
                <a:solidFill>
                  <a:srgbClr val="000000"/>
                </a:solidFill>
              </a:rPr>
              <a:t>i</a:t>
            </a:r>
            <a:r>
              <a:rPr lang="en-US" sz="2600" i="1" dirty="0" smtClean="0">
                <a:solidFill>
                  <a:srgbClr val="000000"/>
                </a:solidFill>
              </a:rPr>
              <a:t> </a:t>
            </a:r>
            <a:r>
              <a:rPr lang="en-US" sz="2600" dirty="0" smtClean="0">
                <a:solidFill>
                  <a:srgbClr val="000000"/>
                </a:solidFill>
              </a:rPr>
              <a:t>specifies what message to send as a function of player </a:t>
            </a:r>
            <a:r>
              <a:rPr lang="en-US" sz="2600" i="1" dirty="0" smtClean="0">
                <a:solidFill>
                  <a:srgbClr val="000000"/>
                </a:solidFill>
              </a:rPr>
              <a:t>i’</a:t>
            </a:r>
            <a:r>
              <a:rPr lang="en-US" sz="2600" dirty="0" smtClean="0">
                <a:solidFill>
                  <a:srgbClr val="000000"/>
                </a:solidFill>
              </a:rPr>
              <a:t>s</a:t>
            </a:r>
            <a:r>
              <a:rPr lang="en-US" sz="2600" i="1" dirty="0" smtClean="0">
                <a:solidFill>
                  <a:srgbClr val="000000"/>
                </a:solidFill>
              </a:rPr>
              <a:t> </a:t>
            </a:r>
            <a:r>
              <a:rPr lang="en-US" sz="2600" dirty="0" smtClean="0">
                <a:solidFill>
                  <a:srgbClr val="000000"/>
                </a:solidFill>
              </a:rPr>
              <a:t>type.</a:t>
            </a:r>
          </a:p>
          <a:p>
            <a:pPr marL="0" indent="0">
              <a:lnSpc>
                <a:spcPct val="90000"/>
              </a:lnSpc>
              <a:spcAft>
                <a:spcPct val="20000"/>
              </a:spcAft>
              <a:buNone/>
            </a:pPr>
            <a:endParaRPr lang="en-US" sz="1800" dirty="0" smtClean="0">
              <a:solidFill>
                <a:srgbClr val="5F3EEA"/>
              </a:solidFill>
            </a:endParaRPr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sz="2600" dirty="0" smtClean="0">
                <a:solidFill>
                  <a:srgbClr val="5F3EEA"/>
                </a:solidFill>
              </a:rPr>
              <a:t>A </a:t>
            </a:r>
            <a:r>
              <a:rPr lang="en-US" sz="2600" i="1" dirty="0" smtClean="0">
                <a:solidFill>
                  <a:srgbClr val="5F3EEA"/>
                </a:solidFill>
              </a:rPr>
              <a:t>mechanism </a:t>
            </a:r>
            <a:r>
              <a:rPr lang="en-US" sz="2600" dirty="0" smtClean="0">
                <a:solidFill>
                  <a:srgbClr val="5F3EEA"/>
                </a:solidFill>
              </a:rPr>
              <a:t>is </a:t>
            </a:r>
            <a:r>
              <a:rPr lang="en-US" sz="2600" i="1" dirty="0" smtClean="0">
                <a:solidFill>
                  <a:srgbClr val="5F3EEA"/>
                </a:solidFill>
              </a:rPr>
              <a:t>strategy-proof </a:t>
            </a:r>
            <a:r>
              <a:rPr lang="en-US" sz="2600" dirty="0" smtClean="0">
                <a:solidFill>
                  <a:srgbClr val="5F3EEA"/>
                </a:solidFill>
              </a:rPr>
              <a:t>if each player </a:t>
            </a:r>
            <a:r>
              <a:rPr lang="en-US" sz="2600" i="1" dirty="0" err="1" smtClean="0">
                <a:solidFill>
                  <a:srgbClr val="5F3EEA"/>
                </a:solidFill>
              </a:rPr>
              <a:t>i</a:t>
            </a:r>
            <a:r>
              <a:rPr lang="en-US" sz="2600" i="1" dirty="0" smtClean="0">
                <a:solidFill>
                  <a:srgbClr val="5F3EEA"/>
                </a:solidFill>
              </a:rPr>
              <a:t> </a:t>
            </a:r>
            <a:r>
              <a:rPr lang="en-US" sz="2600" dirty="0" smtClean="0">
                <a:solidFill>
                  <a:srgbClr val="5F3EEA"/>
                </a:solidFill>
              </a:rPr>
              <a:t>has a strategy that is optimal regardless of the strategies chosen by the other players.</a:t>
            </a:r>
          </a:p>
          <a:p>
            <a:pPr marL="0" indent="0">
              <a:lnSpc>
                <a:spcPct val="90000"/>
              </a:lnSpc>
              <a:spcAft>
                <a:spcPct val="20000"/>
              </a:spcAft>
              <a:buNone/>
            </a:pPr>
            <a:endParaRPr lang="en-US" sz="1800" dirty="0"/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sz="2600" dirty="0" smtClean="0"/>
              <a:t>Sometimes we’ll look at mechanisms that are not strategy-proof, but have a Nash equilibrium that generates good outcomes.</a:t>
            </a:r>
            <a:endParaRPr lang="en-US" sz="2600" dirty="0">
              <a:solidFill>
                <a:srgbClr val="5F3EEA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4BFA0-DCB5-5341-8255-672D4DCA3B2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768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Applying GT to Market Design</a:t>
            </a: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sz="2400" dirty="0" smtClean="0">
                <a:solidFill>
                  <a:srgbClr val="5F3EEA"/>
                </a:solidFill>
              </a:rPr>
              <a:t>Studying existing markets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sz="2000" dirty="0" smtClean="0"/>
              <a:t>Identify the “rules of the game,” the incentives for the participants, and how they behave. Then try to understand why the market functions well, or not so well.</a:t>
            </a:r>
          </a:p>
          <a:p>
            <a:pPr lvl="2">
              <a:lnSpc>
                <a:spcPct val="90000"/>
              </a:lnSpc>
              <a:spcAft>
                <a:spcPct val="20000"/>
              </a:spcAft>
            </a:pPr>
            <a:endParaRPr lang="en-US" sz="1100" dirty="0"/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sz="2400" dirty="0" smtClean="0">
                <a:solidFill>
                  <a:srgbClr val="5F3EEA"/>
                </a:solidFill>
              </a:rPr>
              <a:t>Designing new markets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sz="2000" dirty="0" smtClean="0"/>
              <a:t>Identify the economic problem to be solved, the players and their incentives and information. Then try to understand what sort of market rules would lead to a good outcome.</a:t>
            </a:r>
          </a:p>
          <a:p>
            <a:pPr lvl="4">
              <a:lnSpc>
                <a:spcPct val="90000"/>
              </a:lnSpc>
              <a:spcAft>
                <a:spcPct val="20000"/>
              </a:spcAft>
            </a:pPr>
            <a:endParaRPr lang="en-US" sz="1400" dirty="0"/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sz="2200" dirty="0" smtClean="0"/>
              <a:t>Economic theory provides a conceptual framework, but need to use data and experiments to test hypotheses, and identify things models may have missed.</a:t>
            </a:r>
            <a:endParaRPr lang="en-US" sz="22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4BFA0-DCB5-5341-8255-672D4DCA3B2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96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4519</TotalTime>
  <Words>821</Words>
  <Application>Microsoft Office PowerPoint</Application>
  <PresentationFormat>On-screen Show (4:3)</PresentationFormat>
  <Paragraphs>122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ＭＳ ゴシック</vt:lpstr>
      <vt:lpstr>ＭＳ Ｐゴシック</vt:lpstr>
      <vt:lpstr>Arial</vt:lpstr>
      <vt:lpstr>Calibri</vt:lpstr>
      <vt:lpstr>Wingdings</vt:lpstr>
      <vt:lpstr>Network</vt:lpstr>
      <vt:lpstr>  Game Theory</vt:lpstr>
      <vt:lpstr>Game Theory and Mechanism Design</vt:lpstr>
      <vt:lpstr>Game Theory</vt:lpstr>
      <vt:lpstr>Example</vt:lpstr>
      <vt:lpstr>Dominant Strategies</vt:lpstr>
      <vt:lpstr>Example</vt:lpstr>
      <vt:lpstr>Nash Equilibrium</vt:lpstr>
      <vt:lpstr>Incomplete Information</vt:lpstr>
      <vt:lpstr>Allocation Problems</vt:lpstr>
      <vt:lpstr>“Good” Allocations</vt:lpstr>
      <vt:lpstr>Mechanisms</vt:lpstr>
      <vt:lpstr>Examples of Mechanisms</vt:lpstr>
      <vt:lpstr>Mechanisms and Games</vt:lpstr>
      <vt:lpstr>Strategy-proof Mechanisms </vt:lpstr>
      <vt:lpstr>Applying GT to Market Design</vt:lpstr>
    </vt:vector>
  </TitlesOfParts>
  <Company> 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Matching Markets</dc:title>
  <dc:creator>jdlevin</dc:creator>
  <cp:lastModifiedBy>Jonathan Levin</cp:lastModifiedBy>
  <cp:revision>36</cp:revision>
  <cp:lastPrinted>2014-04-01T16:44:50Z</cp:lastPrinted>
  <dcterms:created xsi:type="dcterms:W3CDTF">2009-03-20T18:03:54Z</dcterms:created>
  <dcterms:modified xsi:type="dcterms:W3CDTF">2014-04-01T18:53:53Z</dcterms:modified>
</cp:coreProperties>
</file>