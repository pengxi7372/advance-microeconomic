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32"/>
  </p:notesMasterIdLst>
  <p:handoutMasterIdLst>
    <p:handoutMasterId r:id="rId33"/>
  </p:handoutMasterIdLst>
  <p:sldIdLst>
    <p:sldId id="553" r:id="rId2"/>
    <p:sldId id="635" r:id="rId3"/>
    <p:sldId id="863" r:id="rId4"/>
    <p:sldId id="636" r:id="rId5"/>
    <p:sldId id="883" r:id="rId6"/>
    <p:sldId id="637" r:id="rId7"/>
    <p:sldId id="885" r:id="rId8"/>
    <p:sldId id="887" r:id="rId9"/>
    <p:sldId id="888" r:id="rId10"/>
    <p:sldId id="889" r:id="rId11"/>
    <p:sldId id="659" r:id="rId12"/>
    <p:sldId id="876" r:id="rId13"/>
    <p:sldId id="658" r:id="rId14"/>
    <p:sldId id="884" r:id="rId15"/>
    <p:sldId id="890" r:id="rId16"/>
    <p:sldId id="861" r:id="rId17"/>
    <p:sldId id="862" r:id="rId18"/>
    <p:sldId id="663" r:id="rId19"/>
    <p:sldId id="868" r:id="rId20"/>
    <p:sldId id="869" r:id="rId21"/>
    <p:sldId id="408" r:id="rId22"/>
    <p:sldId id="643" r:id="rId23"/>
    <p:sldId id="660" r:id="rId24"/>
    <p:sldId id="661" r:id="rId25"/>
    <p:sldId id="870" r:id="rId26"/>
    <p:sldId id="872" r:id="rId27"/>
    <p:sldId id="874" r:id="rId28"/>
    <p:sldId id="891" r:id="rId29"/>
    <p:sldId id="880" r:id="rId30"/>
    <p:sldId id="662" r:id="rId31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84" charset="0"/>
        <a:ea typeface="ＭＳ Ｐゴシック" pitchFamily="84" charset="-128"/>
        <a:cs typeface="ＭＳ Ｐゴシック" pitchFamily="84" charset="-12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84" charset="0"/>
        <a:ea typeface="ＭＳ Ｐゴシック" pitchFamily="84" charset="-128"/>
        <a:cs typeface="ＭＳ Ｐゴシック" pitchFamily="84" charset="-12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84" charset="0"/>
        <a:ea typeface="ＭＳ Ｐゴシック" pitchFamily="84" charset="-128"/>
        <a:cs typeface="ＭＳ Ｐゴシック" pitchFamily="84" charset="-12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84" charset="0"/>
        <a:ea typeface="ＭＳ Ｐゴシック" pitchFamily="84" charset="-128"/>
        <a:cs typeface="ＭＳ Ｐゴシック" pitchFamily="84" charset="-12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84" charset="0"/>
        <a:ea typeface="ＭＳ Ｐゴシック" pitchFamily="84" charset="-128"/>
        <a:cs typeface="ＭＳ Ｐゴシック" pitchFamily="84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84" charset="0"/>
        <a:ea typeface="ＭＳ Ｐゴシック" pitchFamily="84" charset="-128"/>
        <a:cs typeface="ＭＳ Ｐゴシック" pitchFamily="84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84" charset="0"/>
        <a:ea typeface="ＭＳ Ｐゴシック" pitchFamily="84" charset="-128"/>
        <a:cs typeface="ＭＳ Ｐゴシック" pitchFamily="84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84" charset="0"/>
        <a:ea typeface="ＭＳ Ｐゴシック" pitchFamily="84" charset="-128"/>
        <a:cs typeface="ＭＳ Ｐゴシック" pitchFamily="84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84" charset="0"/>
        <a:ea typeface="ＭＳ Ｐゴシック" pitchFamily="84" charset="-128"/>
        <a:cs typeface="ＭＳ Ｐゴシック" pitchFamily="84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3EEA"/>
    <a:srgbClr val="7B076D"/>
    <a:srgbClr val="F434DD"/>
    <a:srgbClr val="33CC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11" autoAdjust="0"/>
    <p:restoredTop sz="94660"/>
  </p:normalViewPr>
  <p:slideViewPr>
    <p:cSldViewPr>
      <p:cViewPr varScale="1">
        <p:scale>
          <a:sx n="87" d="100"/>
          <a:sy n="87" d="100"/>
        </p:scale>
        <p:origin x="-39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82589" cy="46482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 defTabSz="873125">
              <a:defRPr sz="11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050" y="1"/>
            <a:ext cx="2982589" cy="46482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 algn="r" defTabSz="873125">
              <a:defRPr sz="11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765C607-4A47-40F9-93DF-3B36A5F4A427}" type="datetimeFigureOut">
              <a:rPr lang="en-US"/>
              <a:pPr>
                <a:defRPr/>
              </a:pPr>
              <a:t>4/29/2014</a:t>
            </a:fld>
            <a:endParaRPr lang="en-US"/>
          </a:p>
        </p:txBody>
      </p:sp>
      <p:sp>
        <p:nvSpPr>
          <p:cNvPr id="1280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29430"/>
            <a:ext cx="2982589" cy="46482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defTabSz="873125">
              <a:defRPr sz="11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050" y="8829430"/>
            <a:ext cx="2982589" cy="46482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algn="r" defTabSz="873125">
              <a:defRPr sz="11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257A7E5-6C92-4A7F-95C6-7973C23E8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88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82589" cy="46482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050" y="1"/>
            <a:ext cx="2982589" cy="46482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Placeholder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6013" y="696913"/>
            <a:ext cx="4649787" cy="34877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652" y="4415790"/>
            <a:ext cx="5504510" cy="418338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430"/>
            <a:ext cx="2982589" cy="46482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050" y="8829430"/>
            <a:ext cx="2982589" cy="46482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B5DD29B2-AE8C-4834-BD59-638FBFF58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76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4" charset="-128"/>
        <a:cs typeface="ＭＳ Ｐゴシック" pitchFamily="8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7D4BF39-E03E-4401-B180-72396507EA79}" type="slidenum">
              <a:rPr lang="en-US">
                <a:latin typeface="Arial" pitchFamily="84" charset="0"/>
                <a:ea typeface="ＭＳ Ｐゴシック" pitchFamily="84" charset="-128"/>
                <a:cs typeface="ＭＳ Ｐゴシック" pitchFamily="84" charset="-128"/>
              </a:rPr>
              <a:pPr/>
              <a:t>21</a:t>
            </a:fld>
            <a:endParaRPr lang="en-US">
              <a:latin typeface="Arial" pitchFamily="84" charset="0"/>
              <a:ea typeface="ＭＳ Ｐゴシック" pitchFamily="84" charset="-128"/>
              <a:cs typeface="ＭＳ Ｐゴシック" pitchFamily="84" charset="-128"/>
            </a:endParaRPr>
          </a:p>
        </p:txBody>
      </p:sp>
      <p:sp>
        <p:nvSpPr>
          <p:cNvPr id="52226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9788" cy="3487737"/>
          </a:xfrm>
          <a:ln/>
        </p:spPr>
      </p:sp>
      <p:sp>
        <p:nvSpPr>
          <p:cNvPr id="52227" name="Placeholder 3"/>
          <p:cNvSpPr>
            <a:spLocks noGrp="1" noChangeArrowheads="1"/>
          </p:cNvSpPr>
          <p:nvPr>
            <p:ph type="body" idx="1"/>
          </p:nvPr>
        </p:nvSpPr>
        <p:spPr>
          <a:xfrm>
            <a:off x="916635" y="4415790"/>
            <a:ext cx="5048543" cy="418338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9787" cy="34877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8652" y="4415790"/>
            <a:ext cx="5504510" cy="41833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302" tIns="46151" rIns="92302" bIns="46151">
            <a:prstTxWarp prst="textNoShape">
              <a:avLst/>
            </a:prstTxWarp>
          </a:bodyPr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8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latin typeface="Arial" charset="0"/>
              <a:ea typeface="+mn-ea"/>
              <a:cs typeface="+mn-cs"/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latin typeface="Arial" charset="0"/>
              <a:ea typeface="+mn-ea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0D9A8-8E21-4FBD-B4A0-666F48A8F3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951989-ADB3-4A54-AAEF-73E8122B6C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85BF0-B234-4436-B23D-084CDD52B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F731BA-7965-450E-9083-75149B7639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D7137-6758-4D70-9073-DFC35503E4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89FD5-5CDB-42D2-920E-3134AB0653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2359C-C189-43E4-AFD8-D50BEF3BE5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0BDEC-C7DD-4493-94C8-06AEAD237D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20E4D-96B0-4115-AEE7-D473515828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6A48C-EC37-4BDF-A641-85450D6564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D4FAF-DD1B-4041-B054-081432805F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A4DC9-E649-482A-853E-07911388FD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073176-845C-40C8-8561-DD8A5E392C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88141-053A-42BE-A789-3E1E19577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latin typeface="Arial" charset="0"/>
              <a:ea typeface="+mn-ea"/>
              <a:cs typeface="+mn-cs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E3EFF03-1545-446E-B561-CA9B69D241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0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0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5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5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5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5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5" cy="75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1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5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5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2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5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3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3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3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3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5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3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413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5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2" r:id="rId3"/>
    <p:sldLayoutId id="2147483661" r:id="rId4"/>
    <p:sldLayoutId id="2147483660" r:id="rId5"/>
    <p:sldLayoutId id="2147483659" r:id="rId6"/>
    <p:sldLayoutId id="2147483658" r:id="rId7"/>
    <p:sldLayoutId id="2147483657" r:id="rId8"/>
    <p:sldLayoutId id="2147483656" r:id="rId9"/>
    <p:sldLayoutId id="2147483655" r:id="rId10"/>
    <p:sldLayoutId id="2147483654" r:id="rId11"/>
    <p:sldLayoutId id="2147483653" r:id="rId12"/>
    <p:sldLayoutId id="2147483652" r:id="rId13"/>
    <p:sldLayoutId id="2147483651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ＭＳ Ｐゴシック" pitchFamily="84" charset="-128"/>
          <a:cs typeface="ＭＳ Ｐゴシック" pitchFamily="8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pitchFamily="84" charset="-128"/>
          <a:cs typeface="ＭＳ Ｐゴシック" pitchFamily="8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pitchFamily="84" charset="-128"/>
          <a:cs typeface="ＭＳ Ｐゴシック" pitchFamily="8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pitchFamily="84" charset="-128"/>
          <a:cs typeface="ＭＳ Ｐゴシック" pitchFamily="8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pitchFamily="84" charset="-128"/>
          <a:cs typeface="ＭＳ Ｐゴシック" pitchFamily="8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84" charset="2"/>
        <a:buChar char="l"/>
        <a:defRPr sz="3000">
          <a:solidFill>
            <a:schemeClr val="tx1"/>
          </a:solidFill>
          <a:latin typeface="+mn-lt"/>
          <a:ea typeface="ＭＳ Ｐゴシック" pitchFamily="84" charset="-128"/>
          <a:cs typeface="ＭＳ Ｐゴシック" pitchFamily="84" charset="-128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84" charset="2"/>
        <a:buChar char="l"/>
        <a:defRPr sz="2600">
          <a:solidFill>
            <a:schemeClr val="tx1"/>
          </a:solidFill>
          <a:latin typeface="+mn-lt"/>
          <a:ea typeface="ＭＳ Ｐゴシック" charset="-128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84" charset="2"/>
        <a:buChar char="l"/>
        <a:defRPr sz="2300">
          <a:solidFill>
            <a:schemeClr val="tx1"/>
          </a:solidFill>
          <a:latin typeface="+mn-lt"/>
          <a:ea typeface="ＭＳ Ｐゴシック" charset="-128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84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84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ravelmath.com/driving-distance/from/Chicago,+IL/to/New+York,+N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04800" y="457200"/>
            <a:ext cx="6781800" cy="2133600"/>
          </a:xfrm>
        </p:spPr>
        <p:txBody>
          <a:bodyPr/>
          <a:lstStyle/>
          <a:p>
            <a:pPr eaLnBrk="1" hangingPunct="1"/>
            <a:r>
              <a:rPr lang="en-US" smtClean="0"/>
              <a:t>Common Value Auctions</a:t>
            </a:r>
          </a:p>
        </p:txBody>
      </p:sp>
      <p:sp>
        <p:nvSpPr>
          <p:cNvPr id="18434" name="Placeholder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itchFamily="84" charset="2"/>
              <a:buNone/>
            </a:pPr>
            <a:endParaRPr 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C0D9A8-8E21-4FBD-B4A0-666F48A8F39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Coin auction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sz="2600" dirty="0" smtClean="0"/>
              <a:t>What’s for sale: the coins in this jar.</a:t>
            </a:r>
          </a:p>
          <a:p>
            <a:pPr marL="0" indent="0" eaLnBrk="1" hangingPunct="1">
              <a:buFont typeface="Wingdings" pitchFamily="84" charset="2"/>
              <a:buNone/>
              <a:defRPr/>
            </a:pPr>
            <a:endParaRPr lang="en-US" sz="2600" dirty="0" smtClean="0"/>
          </a:p>
          <a:p>
            <a:pPr marL="0" indent="0" eaLnBrk="1" hangingPunct="1">
              <a:buFont typeface="Wingdings" pitchFamily="84" charset="2"/>
              <a:buNone/>
              <a:defRPr/>
            </a:pPr>
            <a:endParaRPr lang="en-US" sz="2600" dirty="0"/>
          </a:p>
          <a:p>
            <a:pPr marL="0" indent="0" eaLnBrk="1" hangingPunct="1">
              <a:buFont typeface="Wingdings" pitchFamily="84" charset="2"/>
              <a:buNone/>
              <a:defRPr/>
            </a:pPr>
            <a:endParaRPr lang="en-US" sz="2600" dirty="0" smtClean="0"/>
          </a:p>
          <a:p>
            <a:pPr eaLnBrk="1" hangingPunct="1">
              <a:defRPr/>
            </a:pPr>
            <a:r>
              <a:rPr lang="en-US" sz="2600" dirty="0" smtClean="0"/>
              <a:t>We’ll run an ascending auction</a:t>
            </a:r>
            <a:r>
              <a:rPr lang="en-US" sz="2600" dirty="0" smtClean="0"/>
              <a:t>	</a:t>
            </a:r>
          </a:p>
          <a:p>
            <a:pPr marL="0" indent="0" eaLnBrk="1" hangingPunct="1">
              <a:buFont typeface="Wingdings" pitchFamily="84" charset="2"/>
              <a:buNone/>
              <a:defRPr/>
            </a:pPr>
            <a:endParaRPr lang="en-US" sz="26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Coin auction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r>
              <a:rPr lang="en-US" sz="2600" dirty="0" smtClean="0"/>
              <a:t>What’s for sale: the coins in this jar</a:t>
            </a:r>
            <a:r>
              <a:rPr lang="en-US" sz="2600" dirty="0" smtClean="0"/>
              <a:t>.</a:t>
            </a:r>
          </a:p>
          <a:p>
            <a:pPr eaLnBrk="1" hangingPunct="1"/>
            <a:r>
              <a:rPr lang="en-US" sz="2600" dirty="0" smtClean="0"/>
              <a:t>Ascending auction</a:t>
            </a:r>
            <a:endParaRPr lang="en-US" sz="2600" dirty="0" smtClean="0"/>
          </a:p>
          <a:p>
            <a:pPr eaLnBrk="1" hangingPunct="1"/>
            <a:endParaRPr lang="en-US" sz="2600" dirty="0" smtClean="0"/>
          </a:p>
          <a:p>
            <a:pPr eaLnBrk="1" hangingPunct="1"/>
            <a:endParaRPr lang="en-US" sz="2600" dirty="0" smtClean="0"/>
          </a:p>
          <a:p>
            <a:pPr eaLnBrk="1" hangingPunct="1"/>
            <a:r>
              <a:rPr lang="en-US" sz="2600" dirty="0" smtClean="0"/>
              <a:t>What if one person gets to count the coins.</a:t>
            </a:r>
          </a:p>
          <a:p>
            <a:pPr eaLnBrk="1" hangingPunct="1"/>
            <a:r>
              <a:rPr lang="en-US" sz="2600" dirty="0" smtClean="0"/>
              <a:t>Does this change your bid? Why?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winner’s curse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dirty="0" smtClean="0"/>
              <a:t>Winning the jar means that everyone else in the class was more pessimistic about its contents.</a:t>
            </a:r>
          </a:p>
          <a:p>
            <a:pPr eaLnBrk="1" hangingPunct="1"/>
            <a:endParaRPr lang="en-US" sz="2600" dirty="0" smtClean="0"/>
          </a:p>
          <a:p>
            <a:pPr eaLnBrk="1" hangingPunct="1"/>
            <a:r>
              <a:rPr lang="en-US" sz="2600" dirty="0" smtClean="0"/>
              <a:t>Winning is “bad news”</a:t>
            </a:r>
          </a:p>
          <a:p>
            <a:pPr lvl="1" eaLnBrk="1" hangingPunct="1"/>
            <a:r>
              <a:rPr lang="en-US" sz="2200" dirty="0" smtClean="0"/>
              <a:t>If you had an initial estimate of $10, seeing everyone else drop out first (especially the person with good information!) should cause you to revise your estimate downward.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sz="2600" dirty="0" smtClean="0"/>
              <a:t>Equilibrium bidding should account for this.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Common Value Auctions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dirty="0" smtClean="0"/>
              <a:t>Today we will look at “common value” auction settings, where bidders have differential information about the value of the item being sold.</a:t>
            </a:r>
            <a:endParaRPr lang="en-US" sz="2600" dirty="0"/>
          </a:p>
          <a:p>
            <a:pPr lvl="3" eaLnBrk="1" hangingPunct="1"/>
            <a:endParaRPr lang="en-US" sz="1600" dirty="0" smtClean="0"/>
          </a:p>
          <a:p>
            <a:pPr eaLnBrk="1" hangingPunct="1"/>
            <a:r>
              <a:rPr lang="en-US" sz="2600" dirty="0" smtClean="0"/>
              <a:t>Three main issues</a:t>
            </a:r>
          </a:p>
          <a:p>
            <a:pPr lvl="1" eaLnBrk="1" hangingPunct="1"/>
            <a:r>
              <a:rPr lang="en-US" sz="2200" dirty="0" smtClean="0"/>
              <a:t>Strategic bidding and the winner’s curse</a:t>
            </a:r>
          </a:p>
          <a:p>
            <a:pPr lvl="1" eaLnBrk="1" hangingPunct="1"/>
            <a:r>
              <a:rPr lang="en-US" sz="2200" dirty="0" smtClean="0"/>
              <a:t>Information aggregation and “price discovery”</a:t>
            </a:r>
          </a:p>
          <a:p>
            <a:pPr lvl="1" eaLnBrk="1" hangingPunct="1"/>
            <a:r>
              <a:rPr lang="en-US" sz="2200" dirty="0" smtClean="0"/>
              <a:t>Selling strategies and information disclosure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6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Imperfect Estimate Model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Two bidders with common value </a:t>
            </a:r>
            <a:r>
              <a:rPr lang="en-US" sz="2400" i="1" dirty="0" smtClean="0"/>
              <a:t>v</a:t>
            </a:r>
            <a:r>
              <a:rPr lang="en-US" sz="2400" dirty="0" smtClean="0"/>
              <a:t>.</a:t>
            </a:r>
            <a:endParaRPr lang="en-US" sz="2400" i="1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i="1" dirty="0" smtClean="0"/>
              <a:t>v </a:t>
            </a:r>
            <a:r>
              <a:rPr lang="en-US" sz="2400" dirty="0" smtClean="0"/>
              <a:t>is drawn at random from a known distribution.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Bidder 1 receives a “signal” </a:t>
            </a:r>
            <a:r>
              <a:rPr lang="en-US" sz="2400" i="1" dirty="0" smtClean="0"/>
              <a:t>s</a:t>
            </a:r>
            <a:r>
              <a:rPr lang="en-US" sz="2400" i="1" baseline="-25000" dirty="0" smtClean="0"/>
              <a:t>1 </a:t>
            </a:r>
            <a:r>
              <a:rPr lang="en-US" sz="2400" dirty="0"/>
              <a:t> </a:t>
            </a:r>
            <a:r>
              <a:rPr lang="en-US" sz="2400" dirty="0" smtClean="0"/>
              <a:t>(correlated with v)</a:t>
            </a:r>
            <a:endParaRPr lang="en-US" sz="2400" i="1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Bidder 2 receives a signal </a:t>
            </a:r>
            <a:r>
              <a:rPr lang="en-US" sz="2400" i="1" dirty="0" smtClean="0"/>
              <a:t>s</a:t>
            </a:r>
            <a:r>
              <a:rPr lang="en-US" sz="2400" i="1" baseline="-25000" dirty="0" smtClean="0"/>
              <a:t>2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Signals provide information about v, but not perfect.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7B076D"/>
                </a:solidFill>
              </a:rPr>
              <a:t>Assume: E[v|</a:t>
            </a:r>
            <a:r>
              <a:rPr lang="en-US" sz="2400" i="1" dirty="0">
                <a:solidFill>
                  <a:srgbClr val="7B076D"/>
                </a:solidFill>
              </a:rPr>
              <a:t> </a:t>
            </a:r>
            <a:r>
              <a:rPr lang="en-US" sz="2400" dirty="0">
                <a:solidFill>
                  <a:srgbClr val="7B076D"/>
                </a:solidFill>
              </a:rPr>
              <a:t>s</a:t>
            </a:r>
            <a:r>
              <a:rPr lang="en-US" sz="2400" baseline="-25000" dirty="0">
                <a:solidFill>
                  <a:srgbClr val="7B076D"/>
                </a:solidFill>
              </a:rPr>
              <a:t>1</a:t>
            </a:r>
            <a:r>
              <a:rPr lang="en-US" sz="2400" dirty="0" smtClean="0">
                <a:solidFill>
                  <a:srgbClr val="7B076D"/>
                </a:solidFill>
              </a:rPr>
              <a:t>,</a:t>
            </a:r>
            <a:r>
              <a:rPr lang="en-US" sz="2400" dirty="0">
                <a:solidFill>
                  <a:srgbClr val="7B076D"/>
                </a:solidFill>
              </a:rPr>
              <a:t> </a:t>
            </a:r>
            <a:r>
              <a:rPr lang="en-US" sz="2400" dirty="0" smtClean="0">
                <a:solidFill>
                  <a:srgbClr val="7B076D"/>
                </a:solidFill>
              </a:rPr>
              <a:t>s</a:t>
            </a:r>
            <a:r>
              <a:rPr lang="en-US" sz="2400" baseline="-25000" dirty="0" smtClean="0">
                <a:solidFill>
                  <a:srgbClr val="7B076D"/>
                </a:solidFill>
              </a:rPr>
              <a:t>2</a:t>
            </a:r>
            <a:r>
              <a:rPr lang="en-US" sz="2400" dirty="0" smtClean="0">
                <a:solidFill>
                  <a:srgbClr val="7B076D"/>
                </a:solidFill>
              </a:rPr>
              <a:t>] is increasing in </a:t>
            </a:r>
            <a:r>
              <a:rPr lang="en-US" sz="2400" dirty="0">
                <a:solidFill>
                  <a:srgbClr val="7B076D"/>
                </a:solidFill>
              </a:rPr>
              <a:t>s</a:t>
            </a:r>
            <a:r>
              <a:rPr lang="en-US" sz="2400" baseline="-25000" dirty="0">
                <a:solidFill>
                  <a:srgbClr val="7B076D"/>
                </a:solidFill>
              </a:rPr>
              <a:t>1</a:t>
            </a:r>
            <a:r>
              <a:rPr lang="en-US" sz="2400" dirty="0">
                <a:solidFill>
                  <a:srgbClr val="7B076D"/>
                </a:solidFill>
              </a:rPr>
              <a:t>, s</a:t>
            </a:r>
            <a:r>
              <a:rPr lang="en-US" sz="2400" baseline="-25000" dirty="0">
                <a:solidFill>
                  <a:srgbClr val="7B076D"/>
                </a:solidFill>
              </a:rPr>
              <a:t>2</a:t>
            </a:r>
            <a:r>
              <a:rPr lang="en-US" sz="2400" dirty="0" smtClean="0">
                <a:solidFill>
                  <a:srgbClr val="7B076D"/>
                </a:solidFill>
              </a:rPr>
              <a:t>.</a:t>
            </a:r>
          </a:p>
          <a:p>
            <a:pPr marL="742950" lvl="1" indent="-285750"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Second price sealed bid, or ascending auction</a:t>
            </a:r>
          </a:p>
          <a:p>
            <a:pPr eaLnBrk="1" hangingPunct="1">
              <a:lnSpc>
                <a:spcPct val="90000"/>
              </a:lnSpc>
            </a:pPr>
            <a:endParaRPr lang="en-US" sz="2600" dirty="0" smtClean="0"/>
          </a:p>
          <a:p>
            <a:pPr eaLnBrk="1" hangingPunct="1">
              <a:lnSpc>
                <a:spcPct val="90000"/>
              </a:lnSpc>
            </a:pPr>
            <a:r>
              <a:rPr lang="en-US" sz="2200" dirty="0" smtClean="0">
                <a:solidFill>
                  <a:srgbClr val="0070C0"/>
                </a:solidFill>
              </a:rPr>
              <a:t>How should bidders account for the winner’s curse?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7384"/>
            <a:ext cx="7543800" cy="1295400"/>
          </a:xfrm>
        </p:spPr>
        <p:txBody>
          <a:bodyPr/>
          <a:lstStyle/>
          <a:p>
            <a:pPr eaLnBrk="1" hangingPunct="1"/>
            <a:r>
              <a:rPr lang="en-US" dirty="0" smtClean="0"/>
              <a:t>How to Bid?</a:t>
            </a:r>
          </a:p>
        </p:txBody>
      </p:sp>
      <p:sp>
        <p:nvSpPr>
          <p:cNvPr id="73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04528"/>
            <a:ext cx="8229600" cy="4876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Suppose bidder 2 uses a strategy: bid b(s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).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Bidder 1 has a signal 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. How to bid?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Consider bidding p, </a:t>
            </a:r>
            <a:r>
              <a:rPr lang="en-US" sz="2000" dirty="0"/>
              <a:t>or </a:t>
            </a:r>
            <a:r>
              <a:rPr lang="en-US" sz="2000" dirty="0" smtClean="0"/>
              <a:t>slightly higher or lower.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	Makes no difference if </a:t>
            </a:r>
            <a:r>
              <a:rPr lang="en-US" sz="2000" dirty="0"/>
              <a:t>b(s</a:t>
            </a:r>
            <a:r>
              <a:rPr lang="en-US" sz="2000" baseline="-25000" dirty="0"/>
              <a:t>2</a:t>
            </a:r>
            <a:r>
              <a:rPr lang="en-US" sz="2000" dirty="0"/>
              <a:t>)</a:t>
            </a:r>
            <a:r>
              <a:rPr lang="en-US" sz="2000" dirty="0" smtClean="0"/>
              <a:t> &lt; p-</a:t>
            </a:r>
            <a:r>
              <a:rPr lang="en-US" sz="2000" dirty="0" smtClean="0">
                <a:latin typeface="Gulim"/>
                <a:ea typeface="Gulim"/>
                <a:sym typeface="Symbol"/>
              </a:rPr>
              <a:t></a:t>
            </a:r>
            <a:r>
              <a:rPr lang="en-US" sz="2000" dirty="0" smtClean="0"/>
              <a:t>.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	Makes no difference </a:t>
            </a:r>
            <a:r>
              <a:rPr lang="en-US" sz="2000" dirty="0"/>
              <a:t>if b(s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  <a:r>
              <a:rPr lang="en-US" sz="2000" dirty="0" smtClean="0">
                <a:sym typeface="Symbol"/>
              </a:rPr>
              <a:t>&gt;</a:t>
            </a:r>
            <a:r>
              <a:rPr lang="en-US" sz="2000" dirty="0" smtClean="0"/>
              <a:t> p+</a:t>
            </a:r>
            <a:r>
              <a:rPr lang="en-US" sz="2000" dirty="0" smtClean="0">
                <a:latin typeface="Gulim"/>
                <a:ea typeface="Gulim"/>
                <a:sym typeface="Symbol"/>
              </a:rPr>
              <a:t></a:t>
            </a:r>
            <a:r>
              <a:rPr lang="en-US" sz="2000" dirty="0" smtClean="0"/>
              <a:t>.</a:t>
            </a: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	Only matters if b(s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) </a:t>
            </a:r>
            <a:r>
              <a:rPr lang="en-US" sz="2000" dirty="0" smtClean="0">
                <a:sym typeface="Symbol"/>
              </a:rPr>
              <a:t> p</a:t>
            </a:r>
            <a:r>
              <a:rPr lang="en-US" sz="2000" dirty="0" smtClean="0">
                <a:latin typeface="Gulim"/>
                <a:ea typeface="Gulim"/>
                <a:sym typeface="Symbol"/>
              </a:rPr>
              <a:t>. </a:t>
            </a:r>
            <a:endParaRPr lang="en-US" sz="20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The only way p could be an optimal bid for bidder 1 is that she’s just indifferent to winning or losing if it turns out that b(s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)=p. Then she’ll have no reason to want to bid higher or lower.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If b(s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)=p, then if bidder 1 wins, she pays p, and her expected value for the object is E[v|s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=b</a:t>
            </a:r>
            <a:r>
              <a:rPr lang="en-US" sz="2000" baseline="30000" dirty="0" smtClean="0"/>
              <a:t>-1</a:t>
            </a:r>
            <a:r>
              <a:rPr lang="en-US" sz="2000" dirty="0" smtClean="0"/>
              <a:t>(p)]. Indifference means </a:t>
            </a:r>
            <a:r>
              <a:rPr lang="en-US" sz="2000" dirty="0"/>
              <a:t>E[v|s</a:t>
            </a:r>
            <a:r>
              <a:rPr lang="en-US" sz="2000" baseline="-25000" dirty="0"/>
              <a:t>1</a:t>
            </a:r>
            <a:r>
              <a:rPr lang="en-US" sz="2000" dirty="0"/>
              <a:t>,s</a:t>
            </a:r>
            <a:r>
              <a:rPr lang="en-US" sz="2000" baseline="-25000" dirty="0"/>
              <a:t>2</a:t>
            </a:r>
            <a:r>
              <a:rPr lang="en-US" sz="2000" dirty="0"/>
              <a:t>=b</a:t>
            </a:r>
            <a:r>
              <a:rPr lang="en-US" sz="2000" baseline="30000" dirty="0"/>
              <a:t>-1</a:t>
            </a:r>
            <a:r>
              <a:rPr lang="en-US" sz="2000" dirty="0"/>
              <a:t>(p</a:t>
            </a:r>
            <a:r>
              <a:rPr lang="en-US" sz="2000" dirty="0" smtClean="0"/>
              <a:t>)]=p. </a:t>
            </a:r>
            <a:endParaRPr lang="en-US" sz="24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4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6" grpId="0" uiExpand="1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7384"/>
            <a:ext cx="7543800" cy="1295400"/>
          </a:xfrm>
        </p:spPr>
        <p:txBody>
          <a:bodyPr/>
          <a:lstStyle/>
          <a:p>
            <a:pPr eaLnBrk="1" hangingPunct="1"/>
            <a:r>
              <a:rPr lang="en-US" dirty="0" smtClean="0"/>
              <a:t>Symmetric Equilibrium</a:t>
            </a:r>
          </a:p>
        </p:txBody>
      </p:sp>
      <p:sp>
        <p:nvSpPr>
          <p:cNvPr id="73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04528"/>
            <a:ext cx="8229600" cy="4876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Therefore, bidder 1’s </a:t>
            </a:r>
            <a:r>
              <a:rPr lang="en-US" sz="2000" i="1" dirty="0" smtClean="0"/>
              <a:t>best response </a:t>
            </a:r>
            <a:r>
              <a:rPr lang="en-US" sz="2000" dirty="0" smtClean="0"/>
              <a:t>given signal 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is to bid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2000" dirty="0"/>
              <a:t>p</a:t>
            </a:r>
            <a:r>
              <a:rPr lang="en-US" sz="2000" dirty="0" smtClean="0"/>
              <a:t>(s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) = E[v|s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=b</a:t>
            </a:r>
            <a:r>
              <a:rPr lang="en-US" sz="2000" baseline="30000" dirty="0" smtClean="0"/>
              <a:t>-1</a:t>
            </a:r>
            <a:r>
              <a:rPr lang="en-US" sz="2000" dirty="0" smtClean="0"/>
              <a:t>(p(s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)]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Let’s look for a </a:t>
            </a:r>
            <a:r>
              <a:rPr lang="en-US" sz="2000" i="1" dirty="0" smtClean="0"/>
              <a:t>symmetric equilibrium</a:t>
            </a:r>
            <a:r>
              <a:rPr lang="en-US" sz="2000" dirty="0" smtClean="0"/>
              <a:t> where bidder 1’s strategy p(s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) and 2’s strategy b(s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) are the same function, i.e. p(x)=b(x) for any x.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This means bidder 1’s equilibrium strategy is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2000" dirty="0"/>
              <a:t>p(s</a:t>
            </a:r>
            <a:r>
              <a:rPr lang="en-US" sz="2000" baseline="-25000" dirty="0"/>
              <a:t>1</a:t>
            </a:r>
            <a:r>
              <a:rPr lang="en-US" sz="2000" dirty="0"/>
              <a:t>) = </a:t>
            </a:r>
            <a:r>
              <a:rPr lang="en-US" sz="2000" dirty="0" smtClean="0"/>
              <a:t>E[v|s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=s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]</a:t>
            </a: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To find her equilibrium bid, bidder 1 should imagine that bidder 2 has the exact same signal, and bid her value in that event.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58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6" grpId="0" uiExpand="1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7384"/>
            <a:ext cx="7543800" cy="1295400"/>
          </a:xfrm>
        </p:spPr>
        <p:txBody>
          <a:bodyPr/>
          <a:lstStyle/>
          <a:p>
            <a:pPr eaLnBrk="1" hangingPunct="1"/>
            <a:r>
              <a:rPr lang="en-US" dirty="0" smtClean="0"/>
              <a:t>The No Regret Property</a:t>
            </a:r>
          </a:p>
        </p:txBody>
      </p:sp>
      <p:sp>
        <p:nvSpPr>
          <p:cNvPr id="73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04528"/>
            <a:ext cx="8229600" cy="4876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Suppose both bidders use the equilibrium strategy: p(s) </a:t>
            </a:r>
            <a:r>
              <a:rPr lang="en-US" sz="2000" dirty="0"/>
              <a:t>= </a:t>
            </a:r>
            <a:r>
              <a:rPr lang="en-US" sz="2000" dirty="0" smtClean="0"/>
              <a:t>E[</a:t>
            </a:r>
            <a:r>
              <a:rPr lang="en-US" sz="2000" dirty="0" err="1" smtClean="0"/>
              <a:t>v|s,s</a:t>
            </a:r>
            <a:r>
              <a:rPr lang="en-US" sz="2000" dirty="0" smtClean="0"/>
              <a:t>]</a:t>
            </a: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Suppose bidder 1 </a:t>
            </a:r>
            <a:r>
              <a:rPr lang="en-US" sz="2000" i="1" dirty="0" smtClean="0"/>
              <a:t>wins   </a:t>
            </a:r>
            <a:r>
              <a:rPr lang="en-US" sz="2000" dirty="0" smtClean="0">
                <a:sym typeface="Symbol"/>
              </a:rPr>
              <a:t></a:t>
            </a:r>
            <a:r>
              <a:rPr lang="en-US" sz="2000" i="1" dirty="0" smtClean="0"/>
              <a:t>   </a:t>
            </a:r>
            <a:r>
              <a:rPr lang="en-US" sz="2000" dirty="0" smtClean="0"/>
              <a:t>p(</a:t>
            </a:r>
            <a:r>
              <a:rPr lang="en-US" sz="2000" dirty="0"/>
              <a:t>s</a:t>
            </a:r>
            <a:r>
              <a:rPr lang="en-US" sz="2000" baseline="-25000" dirty="0"/>
              <a:t>1</a:t>
            </a:r>
            <a:r>
              <a:rPr lang="en-US" sz="2000" dirty="0" smtClean="0"/>
              <a:t>) &gt; p(s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)   </a:t>
            </a:r>
            <a:r>
              <a:rPr lang="en-US" sz="2000" dirty="0" smtClean="0">
                <a:sym typeface="Symbol"/>
              </a:rPr>
              <a:t></a:t>
            </a:r>
            <a:r>
              <a:rPr lang="en-US" sz="2000" dirty="0" smtClean="0"/>
              <a:t> </a:t>
            </a:r>
            <a:r>
              <a:rPr lang="en-US" sz="2000" dirty="0"/>
              <a:t> </a:t>
            </a:r>
            <a:r>
              <a:rPr lang="en-US" sz="2000" dirty="0" smtClean="0"/>
              <a:t>   </a:t>
            </a:r>
            <a:r>
              <a:rPr lang="en-US" sz="2000" b="1" dirty="0" smtClean="0"/>
              <a:t>s</a:t>
            </a:r>
            <a:r>
              <a:rPr lang="en-US" sz="2000" b="1" baseline="-25000" dirty="0" smtClean="0"/>
              <a:t>1</a:t>
            </a:r>
            <a:r>
              <a:rPr lang="en-US" sz="2000" b="1" dirty="0" smtClean="0"/>
              <a:t> &gt; s</a:t>
            </a:r>
            <a:r>
              <a:rPr lang="en-US" sz="2000" b="1" baseline="-25000" dirty="0" smtClean="0"/>
              <a:t>2</a:t>
            </a:r>
            <a:endParaRPr lang="en-US" sz="2000" b="1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	Bidder 1’s expected value post-auction: E[v|s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/>
              <a:t>	</a:t>
            </a:r>
            <a:r>
              <a:rPr lang="en-US" sz="2000" dirty="0" smtClean="0"/>
              <a:t>Bidder 1’s payment: p(s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) </a:t>
            </a:r>
            <a:r>
              <a:rPr lang="en-US" sz="2000" dirty="0"/>
              <a:t>= </a:t>
            </a:r>
            <a:r>
              <a:rPr lang="en-US" sz="2000" dirty="0" smtClean="0"/>
              <a:t>E[v|s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,s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]  (smaller)</a:t>
            </a: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Bidder 1 is glad she won, and doesn’t want to change her bid.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	Bidder 2’s expected value post-auction: </a:t>
            </a:r>
            <a:r>
              <a:rPr lang="en-US" sz="2000" dirty="0"/>
              <a:t>E[v|s</a:t>
            </a:r>
            <a:r>
              <a:rPr lang="en-US" sz="2000" baseline="-25000" dirty="0"/>
              <a:t>1</a:t>
            </a:r>
            <a:r>
              <a:rPr lang="en-US" sz="2000" dirty="0"/>
              <a:t>,s</a:t>
            </a:r>
            <a:r>
              <a:rPr lang="en-US" sz="2000" baseline="-25000" dirty="0"/>
              <a:t>2</a:t>
            </a:r>
            <a:r>
              <a:rPr lang="en-US" sz="2000" dirty="0" smtClean="0"/>
              <a:t>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/>
              <a:t>	</a:t>
            </a:r>
            <a:r>
              <a:rPr lang="en-US" sz="2000" dirty="0" smtClean="0"/>
              <a:t>If bid higher and won, would pay: p(s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) </a:t>
            </a:r>
            <a:r>
              <a:rPr lang="en-US" sz="2000" dirty="0"/>
              <a:t>= </a:t>
            </a:r>
            <a:r>
              <a:rPr lang="en-US" sz="2000" dirty="0" smtClean="0"/>
              <a:t>E[v|s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,s</a:t>
            </a:r>
            <a:r>
              <a:rPr lang="en-US" sz="2000" baseline="-25000" dirty="0"/>
              <a:t>1</a:t>
            </a:r>
            <a:r>
              <a:rPr lang="en-US" sz="2000" dirty="0" smtClean="0"/>
              <a:t>]  (bigger)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Bidder 2 is glad she lost, and doesn’t want to change her bid.</a:t>
            </a: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88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6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7384"/>
            <a:ext cx="7543800" cy="1295400"/>
          </a:xfrm>
        </p:spPr>
        <p:txBody>
          <a:bodyPr/>
          <a:lstStyle/>
          <a:p>
            <a:pPr eaLnBrk="1" hangingPunct="1"/>
            <a:r>
              <a:rPr lang="en-US" dirty="0" smtClean="0"/>
              <a:t>Common Value Bidding</a:t>
            </a:r>
          </a:p>
        </p:txBody>
      </p:sp>
      <p:sp>
        <p:nvSpPr>
          <p:cNvPr id="73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04528"/>
            <a:ext cx="8229600" cy="4876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Key idea in common value auctions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0" indent="0" algn="ctr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2000" dirty="0" smtClean="0">
                <a:solidFill>
                  <a:srgbClr val="5F3EEA"/>
                </a:solidFill>
              </a:rPr>
              <a:t>Bidders must account that winning or 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2000" dirty="0" smtClean="0">
                <a:solidFill>
                  <a:srgbClr val="5F3EEA"/>
                </a:solidFill>
              </a:rPr>
              <a:t>losing conveys information about 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2000" dirty="0" smtClean="0">
                <a:solidFill>
                  <a:srgbClr val="5F3EEA"/>
                </a:solidFill>
              </a:rPr>
              <a:t>the information of other bidders.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This information can be either positive or negative.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10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Winner’s or Loser’s Curse?</a:t>
            </a:r>
          </a:p>
        </p:txBody>
      </p:sp>
      <p:sp>
        <p:nvSpPr>
          <p:cNvPr id="1044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sz="2600" dirty="0" smtClean="0"/>
              <a:t>How does accounting for the information of others affect your estimate of the item value?</a:t>
            </a:r>
          </a:p>
          <a:p>
            <a:pPr eaLnBrk="1" hangingPunct="1">
              <a:lnSpc>
                <a:spcPct val="140000"/>
              </a:lnSpc>
              <a:spcAft>
                <a:spcPct val="20000"/>
              </a:spcAft>
            </a:pPr>
            <a:r>
              <a:rPr lang="en-US" sz="2600" dirty="0" smtClean="0">
                <a:solidFill>
                  <a:srgbClr val="5F3EEA"/>
                </a:solidFill>
              </a:rPr>
              <a:t>Case 1:</a:t>
            </a:r>
            <a:r>
              <a:rPr lang="en-US" sz="2600" dirty="0" smtClean="0"/>
              <a:t> 10 bidders, 1 item.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200" dirty="0" smtClean="0">
                <a:solidFill>
                  <a:srgbClr val="F434DD"/>
                </a:solidFill>
              </a:rPr>
              <a:t>Winning means other signals were all lower.</a:t>
            </a:r>
          </a:p>
          <a:p>
            <a:pPr lvl="1" eaLnBrk="1" hangingPunct="1">
              <a:spcAft>
                <a:spcPct val="20000"/>
              </a:spcAft>
            </a:pPr>
            <a:endParaRPr lang="en-US" sz="2200" dirty="0" smtClean="0">
              <a:solidFill>
                <a:srgbClr val="F434DD"/>
              </a:solidFill>
            </a:endParaRPr>
          </a:p>
          <a:p>
            <a:pPr eaLnBrk="1" hangingPunct="1">
              <a:lnSpc>
                <a:spcPct val="140000"/>
              </a:lnSpc>
              <a:spcAft>
                <a:spcPct val="20000"/>
              </a:spcAft>
            </a:pPr>
            <a:r>
              <a:rPr lang="en-US" sz="2600" dirty="0" smtClean="0">
                <a:solidFill>
                  <a:srgbClr val="5F3EEA"/>
                </a:solidFill>
              </a:rPr>
              <a:t>Case 2:</a:t>
            </a:r>
            <a:r>
              <a:rPr lang="en-US" sz="2600" dirty="0" smtClean="0"/>
              <a:t> 10 bidders, 9 items. 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200" dirty="0" smtClean="0">
                <a:solidFill>
                  <a:srgbClr val="F434DD"/>
                </a:solidFill>
              </a:rPr>
              <a:t>Losing means other signals were all higher.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48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 just uncertainty</a:t>
            </a:r>
          </a:p>
        </p:txBody>
      </p:sp>
      <p:sp>
        <p:nvSpPr>
          <p:cNvPr id="1044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sz="2200" dirty="0" smtClean="0"/>
              <a:t>The logic of common values comes from the fact that other bidders may have information that is relevant for your value, not just from the value being uncertain.</a:t>
            </a:r>
          </a:p>
          <a:p>
            <a:pPr lvl="3" eaLnBrk="1" hangingPunct="1">
              <a:spcAft>
                <a:spcPct val="20000"/>
              </a:spcAft>
            </a:pPr>
            <a:endParaRPr lang="en-US" sz="1200" dirty="0" smtClean="0"/>
          </a:p>
          <a:p>
            <a:pPr eaLnBrk="1" hangingPunct="1">
              <a:spcAft>
                <a:spcPct val="20000"/>
              </a:spcAft>
            </a:pPr>
            <a:r>
              <a:rPr lang="en-US" sz="2200" dirty="0" smtClean="0"/>
              <a:t>Suppose we’re bidding for the jar of coins…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smtClean="0"/>
              <a:t>I </a:t>
            </a:r>
            <a:r>
              <a:rPr lang="en-US" sz="2000" i="1" dirty="0" smtClean="0"/>
              <a:t>know</a:t>
            </a:r>
            <a:r>
              <a:rPr lang="en-US" sz="2000" dirty="0" smtClean="0"/>
              <a:t> there are exactly 650 pennies.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smtClean="0"/>
              <a:t>But I think there’s a fifty percent chance I’ll lose the jar.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smtClean="0"/>
              <a:t>My value of winning is less than 650 ($3.25 if risk-neutral).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smtClean="0"/>
              <a:t>But I don’t care about the other bidders’ estimates (except insofar as bidders with high estimates drive up the auction price). </a:t>
            </a:r>
            <a:endParaRPr lang="en-US" sz="21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48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Providing Information to Bidders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2"/>
            <a:ext cx="8229600" cy="4734073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sz="2400" dirty="0" smtClean="0"/>
              <a:t>Deciding how much information to provide to bidders – e.g. what information to disclose if you are selling a house, or a company – can be a tricky issue.</a:t>
            </a:r>
          </a:p>
          <a:p>
            <a:pPr lvl="4" eaLnBrk="1" hangingPunct="1">
              <a:spcAft>
                <a:spcPct val="20000"/>
              </a:spcAft>
            </a:pPr>
            <a:endParaRPr lang="en-US" sz="1400" dirty="0" smtClean="0">
              <a:solidFill>
                <a:srgbClr val="5F3EEA"/>
              </a:solidFill>
            </a:endParaRPr>
          </a:p>
          <a:p>
            <a:pPr lvl="1" eaLnBrk="1" hangingPunct="1">
              <a:spcAft>
                <a:spcPct val="20000"/>
              </a:spcAft>
            </a:pPr>
            <a:r>
              <a:rPr lang="en-US" sz="2000" dirty="0" err="1" smtClean="0"/>
              <a:t>Milgrom</a:t>
            </a:r>
            <a:r>
              <a:rPr lang="en-US" sz="2000" dirty="0" smtClean="0"/>
              <a:t>-Weber “linkage principle” – under certain conditions seller should provide information to alleviate the winner’s curse and connect the price more closely to the true value.</a:t>
            </a:r>
          </a:p>
          <a:p>
            <a:pPr lvl="3" eaLnBrk="1" hangingPunct="1">
              <a:spcAft>
                <a:spcPct val="20000"/>
              </a:spcAft>
            </a:pPr>
            <a:endParaRPr lang="en-US" sz="1400" dirty="0">
              <a:solidFill>
                <a:srgbClr val="5F3EEA"/>
              </a:solidFill>
            </a:endParaRPr>
          </a:p>
          <a:p>
            <a:pPr lvl="1" eaLnBrk="1" hangingPunct="1">
              <a:spcAft>
                <a:spcPct val="20000"/>
              </a:spcAft>
            </a:pPr>
            <a:r>
              <a:rPr lang="en-US" sz="2000" dirty="0" smtClean="0"/>
              <a:t>In other cases, giving bidders the opportunity to become informed can </a:t>
            </a:r>
            <a:r>
              <a:rPr lang="en-US" sz="2000" i="1" dirty="0" smtClean="0"/>
              <a:t>create</a:t>
            </a:r>
            <a:r>
              <a:rPr lang="en-US" sz="2000" dirty="0" smtClean="0"/>
              <a:t> informational asymmetries – seller does better to keep bidders in the dark.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476672"/>
            <a:ext cx="7543800" cy="786482"/>
          </a:xfrm>
        </p:spPr>
        <p:txBody>
          <a:bodyPr/>
          <a:lstStyle/>
          <a:p>
            <a:pPr eaLnBrk="1" hangingPunct="1"/>
            <a:r>
              <a:rPr lang="en-US" sz="3600" dirty="0" smtClean="0"/>
              <a:t>De Beers Diamond Example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2"/>
            <a:ext cx="4114800" cy="4734073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sz="2000" dirty="0" smtClean="0"/>
              <a:t>De Beers sells a large fraction of the world’s uncut diamonds: at one point, 85%.</a:t>
            </a:r>
          </a:p>
          <a:p>
            <a:pPr eaLnBrk="1" hangingPunct="1">
              <a:spcAft>
                <a:spcPct val="20000"/>
              </a:spcAft>
            </a:pPr>
            <a:r>
              <a:rPr lang="en-US" sz="2000" dirty="0" smtClean="0"/>
              <a:t>It sells these diamonds at regularly scheduled “sights”. </a:t>
            </a:r>
          </a:p>
          <a:p>
            <a:pPr eaLnBrk="1" hangingPunct="1">
              <a:spcAft>
                <a:spcPct val="20000"/>
              </a:spcAft>
            </a:pPr>
            <a:r>
              <a:rPr lang="en-US" sz="2000" dirty="0" smtClean="0"/>
              <a:t>Each buyer is given a box of diamonds and a price. He or she must decide whether to buy the whole box at that price.</a:t>
            </a:r>
          </a:p>
          <a:p>
            <a:pPr eaLnBrk="1" hangingPunct="1">
              <a:spcAft>
                <a:spcPct val="20000"/>
              </a:spcAft>
            </a:pPr>
            <a:r>
              <a:rPr lang="en-US" sz="2000" dirty="0" smtClean="0"/>
              <a:t>What is the rationale for having so little inspection and pricing of individual items?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1026" name="Picture 2" descr="http://www.debeersgroup.com/ImageVaultFiles/id_1610/cf_5/Sales_and_Distribution_HERO.JPG?~1610~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011" y="2492896"/>
            <a:ext cx="4079234" cy="192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765009" y="4510236"/>
            <a:ext cx="4114800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84" charset="2"/>
              <a:buChar char="l"/>
              <a:defRPr sz="3000">
                <a:solidFill>
                  <a:schemeClr val="tx1"/>
                </a:solidFill>
                <a:latin typeface="+mn-lt"/>
                <a:ea typeface="ＭＳ Ｐゴシック" pitchFamily="84" charset="-128"/>
                <a:cs typeface="ＭＳ Ｐゴシック" pitchFamily="84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84" charset="2"/>
              <a:buChar char="l"/>
              <a:defRPr sz="26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84" charset="2"/>
              <a:buChar char="l"/>
              <a:defRPr sz="23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84" charset="2"/>
              <a:buChar char="§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84" charset="2"/>
              <a:buChar char="§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 eaLnBrk="1" hangingPunct="1">
              <a:spcAft>
                <a:spcPct val="20000"/>
              </a:spcAft>
              <a:buNone/>
            </a:pPr>
            <a:r>
              <a:rPr lang="en-US" sz="2000" dirty="0" smtClean="0"/>
              <a:t>De Beers “sight” boxes</a:t>
            </a:r>
          </a:p>
        </p:txBody>
      </p:sp>
    </p:spTree>
    <p:extLst>
      <p:ext uri="{BB962C8B-B14F-4D97-AF65-F5344CB8AC3E}">
        <p14:creationId xmlns:p14="http://schemas.microsoft.com/office/powerpoint/2010/main" val="296104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476672"/>
            <a:ext cx="7543800" cy="786482"/>
          </a:xfrm>
        </p:spPr>
        <p:txBody>
          <a:bodyPr/>
          <a:lstStyle/>
          <a:p>
            <a:pPr eaLnBrk="1" hangingPunct="1"/>
            <a:r>
              <a:rPr lang="en-US" sz="3600" dirty="0" smtClean="0"/>
              <a:t>Financial Securities Example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7544" y="1628800"/>
            <a:ext cx="8435280" cy="4752527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sz="2400" dirty="0" smtClean="0"/>
              <a:t>It can be easier to trade financial securities if there is less potential for asymmetric information. 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smtClean="0"/>
              <a:t>Buyer is less concerned about the winner’s curse (i.e. the fact that the seller was willing to sell), or vice-versa.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smtClean="0"/>
              <a:t>The incentives to spend a lot of time collecting information to exploit other traders may be reduced (lower transaction costs).</a:t>
            </a:r>
          </a:p>
          <a:p>
            <a:pPr lvl="4" eaLnBrk="1" hangingPunct="1">
              <a:spcAft>
                <a:spcPct val="20000"/>
              </a:spcAft>
            </a:pPr>
            <a:endParaRPr lang="en-US" sz="1400" dirty="0" smtClean="0"/>
          </a:p>
          <a:p>
            <a:pPr eaLnBrk="1" hangingPunct="1">
              <a:spcAft>
                <a:spcPct val="20000"/>
              </a:spcAft>
            </a:pPr>
            <a:r>
              <a:rPr lang="en-US" sz="2400" dirty="0" smtClean="0"/>
              <a:t>Helps to understand attraction of certain securities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smtClean="0"/>
              <a:t>Index funds (hard to know where overall market is going, even if insiders might have good information about individual stocks.)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smtClean="0"/>
              <a:t>Bonds backed by </a:t>
            </a:r>
            <a:r>
              <a:rPr lang="en-US" sz="2000" i="1" dirty="0" smtClean="0"/>
              <a:t>pools </a:t>
            </a:r>
            <a:r>
              <a:rPr lang="en-US" sz="2000" dirty="0" smtClean="0"/>
              <a:t>of mortgages (hard to know if many loans will default, although sometimes like in 2007 it can happen!).</a:t>
            </a:r>
            <a:endParaRPr lang="en-US" sz="2000" dirty="0"/>
          </a:p>
          <a:p>
            <a:pPr eaLnBrk="1" hangingPunct="1">
              <a:spcAft>
                <a:spcPct val="20000"/>
              </a:spcAft>
            </a:pPr>
            <a:endParaRPr lang="en-US" sz="2400" dirty="0" smtClean="0"/>
          </a:p>
          <a:p>
            <a:pPr lvl="1" eaLnBrk="1" hangingPunct="1">
              <a:spcAft>
                <a:spcPct val="20000"/>
              </a:spcAft>
            </a:pPr>
            <a:endParaRPr lang="en-US" sz="20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7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aggregation</a:t>
            </a:r>
          </a:p>
        </p:txBody>
      </p:sp>
      <p:sp>
        <p:nvSpPr>
          <p:cNvPr id="137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</p:spPr>
        <p:txBody>
          <a:bodyPr/>
          <a:lstStyle/>
          <a:p>
            <a:pPr eaLnBrk="1" hangingPunct="1"/>
            <a:r>
              <a:rPr lang="en-US" dirty="0" smtClean="0"/>
              <a:t>How many miles is it to drive from New York to Chicago?</a:t>
            </a:r>
          </a:p>
        </p:txBody>
      </p:sp>
      <p:sp>
        <p:nvSpPr>
          <p:cNvPr id="2" name="Rectangle 1"/>
          <p:cNvSpPr/>
          <p:nvPr/>
        </p:nvSpPr>
        <p:spPr>
          <a:xfrm>
            <a:off x="3995936" y="5589240"/>
            <a:ext cx="1205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hlinkClick r:id="rId3"/>
              </a:rPr>
              <a:t>Answer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Information aggregation</a:t>
            </a:r>
          </a:p>
        </p:txBody>
      </p:sp>
      <p:sp>
        <p:nvSpPr>
          <p:cNvPr id="137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</p:spPr>
        <p:txBody>
          <a:bodyPr/>
          <a:lstStyle/>
          <a:p>
            <a:pPr eaLnBrk="1" hangingPunct="1"/>
            <a:r>
              <a:rPr lang="en-US" dirty="0" smtClean="0"/>
              <a:t>Suppose we have many bidders, and each has an independent estimate 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i</a:t>
            </a:r>
            <a:r>
              <a:rPr lang="en-US" i="1" baseline="-25000" dirty="0" smtClean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v+e</a:t>
            </a:r>
            <a:r>
              <a:rPr lang="en-US" i="1" baseline="-25000" dirty="0" err="1" smtClean="0"/>
              <a:t>i</a:t>
            </a:r>
            <a:r>
              <a:rPr lang="en-US" i="1" baseline="-25000" dirty="0" smtClean="0"/>
              <a:t>.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i="1" dirty="0" smtClean="0"/>
              <a:t>Median </a:t>
            </a:r>
            <a:r>
              <a:rPr lang="en-US" dirty="0" smtClean="0"/>
              <a:t>of the bidder’s estimates 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i</a:t>
            </a:r>
            <a:r>
              <a:rPr lang="en-US" dirty="0" smtClean="0"/>
              <a:t> is likely to be a very good estimate of </a:t>
            </a:r>
            <a:r>
              <a:rPr lang="en-US" i="1" dirty="0" smtClean="0"/>
              <a:t>v. Why?</a:t>
            </a:r>
            <a:endParaRPr lang="en-US" dirty="0" smtClean="0"/>
          </a:p>
          <a:p>
            <a:pPr lvl="1" algn="ctr" eaLnBrk="1" hangingPunct="1">
              <a:lnSpc>
                <a:spcPct val="60000"/>
              </a:lnSpc>
              <a:buFont typeface="Wingdings" pitchFamily="84" charset="2"/>
              <a:buNone/>
            </a:pPr>
            <a:r>
              <a:rPr lang="en-US" dirty="0" smtClean="0"/>
              <a:t>	</a:t>
            </a:r>
          </a:p>
          <a:p>
            <a:pPr lvl="1" algn="ctr" eaLnBrk="1" hangingPunct="1">
              <a:buFont typeface="Wingdings" pitchFamily="84" charset="2"/>
              <a:buNone/>
            </a:pPr>
            <a:r>
              <a:rPr lang="en-US" i="1" dirty="0" smtClean="0"/>
              <a:t>Median(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i</a:t>
            </a:r>
            <a:r>
              <a:rPr lang="en-US" i="1" dirty="0" smtClean="0"/>
              <a:t>) = Median(</a:t>
            </a:r>
            <a:r>
              <a:rPr lang="en-US" i="1" dirty="0" err="1" smtClean="0"/>
              <a:t>v+e</a:t>
            </a:r>
            <a:r>
              <a:rPr lang="en-US" i="1" baseline="-25000" dirty="0" err="1" smtClean="0"/>
              <a:t>i</a:t>
            </a:r>
            <a:r>
              <a:rPr lang="en-US" i="1" dirty="0" smtClean="0"/>
              <a:t>) = </a:t>
            </a:r>
            <a:r>
              <a:rPr lang="en-US" i="1" dirty="0" err="1" smtClean="0"/>
              <a:t>v+Median</a:t>
            </a:r>
            <a:r>
              <a:rPr lang="en-US" i="1" dirty="0" smtClean="0"/>
              <a:t>(</a:t>
            </a:r>
            <a:r>
              <a:rPr lang="en-US" i="1" dirty="0" err="1" smtClean="0"/>
              <a:t>e</a:t>
            </a:r>
            <a:r>
              <a:rPr lang="en-US" i="1" baseline="-25000" dirty="0" err="1" smtClean="0"/>
              <a:t>i</a:t>
            </a:r>
            <a:r>
              <a:rPr lang="en-US" i="1" dirty="0" smtClean="0"/>
              <a:t>) </a:t>
            </a:r>
            <a:r>
              <a:rPr lang="en-US" i="1" dirty="0" smtClean="0">
                <a:ea typeface="Arial" pitchFamily="84" charset="0"/>
                <a:cs typeface="Arial" pitchFamily="84" charset="0"/>
              </a:rPr>
              <a:t>≈ v</a:t>
            </a:r>
            <a:r>
              <a:rPr lang="en-US" i="1" baseline="-25000" dirty="0" smtClean="0"/>
              <a:t>.</a:t>
            </a:r>
            <a:endParaRPr lang="en-US" dirty="0" smtClean="0">
              <a:sym typeface="Symbol" pitchFamily="84" charset="2"/>
            </a:endParaRP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“The wisdom of crowds”; Galton example.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523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Information aggregation</a:t>
            </a:r>
          </a:p>
        </p:txBody>
      </p:sp>
      <p:sp>
        <p:nvSpPr>
          <p:cNvPr id="105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</p:spPr>
        <p:txBody>
          <a:bodyPr/>
          <a:lstStyle/>
          <a:p>
            <a:pPr eaLnBrk="1" hangingPunct="1"/>
            <a:r>
              <a:rPr lang="en-US" dirty="0" smtClean="0"/>
              <a:t>Suppose we have many bidders, and each has an independent estimate 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i</a:t>
            </a:r>
            <a:r>
              <a:rPr lang="en-US" i="1" baseline="-25000" dirty="0" smtClean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v+e</a:t>
            </a:r>
            <a:r>
              <a:rPr lang="en-US" i="1" baseline="-25000" dirty="0" err="1" smtClean="0"/>
              <a:t>i</a:t>
            </a:r>
            <a:r>
              <a:rPr lang="en-US" i="1" baseline="-25000" dirty="0" smtClean="0"/>
              <a:t>.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If many bidders compete in an auction, is the resulting price a good estimate of </a:t>
            </a:r>
            <a:r>
              <a:rPr lang="en-US" i="1" dirty="0" smtClean="0"/>
              <a:t>v?</a:t>
            </a:r>
            <a:endParaRPr lang="en-US" dirty="0" smtClean="0"/>
          </a:p>
          <a:p>
            <a:pPr lvl="4" eaLnBrk="1" hangingPunct="1"/>
            <a:endParaRPr lang="en-US" sz="1400" dirty="0" smtClean="0">
              <a:solidFill>
                <a:srgbClr val="F434DD"/>
              </a:solidFill>
            </a:endParaRPr>
          </a:p>
          <a:p>
            <a:pPr lvl="1" eaLnBrk="1" hangingPunct="1"/>
            <a:r>
              <a:rPr lang="en-US" sz="2000" dirty="0" smtClean="0">
                <a:solidFill>
                  <a:srgbClr val="F434DD"/>
                </a:solidFill>
              </a:rPr>
              <a:t>Potentially YES!, auction price can </a:t>
            </a:r>
            <a:r>
              <a:rPr lang="en-US" sz="2000" i="1" dirty="0" smtClean="0">
                <a:solidFill>
                  <a:srgbClr val="F434DD"/>
                </a:solidFill>
              </a:rPr>
              <a:t>aggregate information. </a:t>
            </a:r>
          </a:p>
          <a:p>
            <a:pPr lvl="1" eaLnBrk="1" hangingPunct="1"/>
            <a:endParaRPr lang="en-US" sz="2000" dirty="0" smtClean="0"/>
          </a:p>
          <a:p>
            <a:pPr lvl="1" eaLnBrk="1" hangingPunct="1"/>
            <a:r>
              <a:rPr lang="en-US" sz="2000" dirty="0" smtClean="0"/>
              <a:t>First shown by Stanford profs. Wilson, </a:t>
            </a:r>
            <a:r>
              <a:rPr lang="en-US" sz="2000" dirty="0" err="1" smtClean="0"/>
              <a:t>Milgrom</a:t>
            </a:r>
            <a:r>
              <a:rPr lang="en-US" sz="2000" dirty="0" smtClean="0"/>
              <a:t>.</a:t>
            </a:r>
          </a:p>
          <a:p>
            <a:pPr lvl="1" eaLnBrk="1" hangingPunct="1"/>
            <a:r>
              <a:rPr lang="en-US" sz="2000" dirty="0" smtClean="0"/>
              <a:t>Let’s go through a somewhat loose sketch of the argument.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Information Aggregation?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Assume </a:t>
            </a:r>
            <a:r>
              <a:rPr lang="en-US" sz="2000" i="1" dirty="0" smtClean="0"/>
              <a:t>N </a:t>
            </a:r>
            <a:r>
              <a:rPr lang="en-US" sz="2000" dirty="0" smtClean="0"/>
              <a:t>bidders, </a:t>
            </a:r>
            <a:r>
              <a:rPr lang="en-US" sz="2000" i="1" dirty="0" smtClean="0"/>
              <a:t>K=N/2 </a:t>
            </a:r>
            <a:r>
              <a:rPr lang="en-US" sz="2000" dirty="0" smtClean="0"/>
              <a:t>items, top K bids win and pay K+1</a:t>
            </a:r>
            <a:r>
              <a:rPr lang="en-US" sz="2000" baseline="30000" dirty="0" smtClean="0"/>
              <a:t>st</a:t>
            </a:r>
            <a:r>
              <a:rPr lang="en-US" sz="2000" dirty="0" smtClean="0"/>
              <a:t> bid.</a:t>
            </a:r>
          </a:p>
          <a:p>
            <a:pPr lvl="4"/>
            <a:endParaRPr lang="en-US" sz="1000" dirty="0" smtClean="0"/>
          </a:p>
          <a:p>
            <a:r>
              <a:rPr lang="en-US" sz="2000" dirty="0" smtClean="0"/>
              <a:t>Equilibrium bidding: bid so that if you “just” win, you’ll “just” want to win (else should raise/lower </a:t>
            </a:r>
            <a:r>
              <a:rPr lang="en-US" sz="2000" dirty="0"/>
              <a:t>bid). </a:t>
            </a:r>
          </a:p>
          <a:p>
            <a:pPr marL="0" indent="0">
              <a:buNone/>
            </a:pPr>
            <a:r>
              <a:rPr lang="en-US" sz="2000" i="1" dirty="0" smtClean="0"/>
              <a:t>	     b(</a:t>
            </a:r>
            <a:r>
              <a:rPr lang="en-US" sz="2000" i="1" dirty="0" err="1" smtClean="0"/>
              <a:t>s</a:t>
            </a:r>
            <a:r>
              <a:rPr lang="en-US" sz="2000" i="1" baseline="-25000" dirty="0" err="1" smtClean="0"/>
              <a:t>i</a:t>
            </a:r>
            <a:r>
              <a:rPr lang="en-US" sz="2000" dirty="0" smtClean="0"/>
              <a:t>) = E[v | </a:t>
            </a:r>
            <a:r>
              <a:rPr lang="en-US" sz="2000" dirty="0" err="1" smtClean="0"/>
              <a:t>s</a:t>
            </a:r>
            <a:r>
              <a:rPr lang="en-US" sz="2000" baseline="-25000" dirty="0" err="1" smtClean="0"/>
              <a:t>i</a:t>
            </a:r>
            <a:r>
              <a:rPr lang="en-US" sz="2000" baseline="-25000" dirty="0" smtClean="0"/>
              <a:t> </a:t>
            </a:r>
            <a:r>
              <a:rPr lang="en-US" sz="2000" dirty="0" smtClean="0"/>
              <a:t>is tied for K+1</a:t>
            </a:r>
            <a:r>
              <a:rPr lang="en-US" sz="2000" baseline="30000" dirty="0" smtClean="0"/>
              <a:t>st</a:t>
            </a:r>
            <a:r>
              <a:rPr lang="en-US" sz="2000" dirty="0" smtClean="0"/>
              <a:t> highest of N]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 smtClean="0"/>
              <a:t>		</a:t>
            </a:r>
            <a:r>
              <a:rPr lang="en-US" sz="2000" i="1" dirty="0" smtClean="0">
                <a:sym typeface="Symbol"/>
              </a:rPr>
              <a:t> </a:t>
            </a:r>
            <a:r>
              <a:rPr lang="en-US" sz="2000" dirty="0" smtClean="0"/>
              <a:t>E[v | </a:t>
            </a:r>
            <a:r>
              <a:rPr lang="en-US" sz="2000" dirty="0" err="1"/>
              <a:t>s</a:t>
            </a:r>
            <a:r>
              <a:rPr lang="en-US" sz="2000" baseline="-25000" dirty="0" err="1"/>
              <a:t>i</a:t>
            </a:r>
            <a:r>
              <a:rPr lang="en-US" sz="2000" dirty="0" smtClean="0"/>
              <a:t> is median signal]                 (assume N large)</a:t>
            </a:r>
          </a:p>
          <a:p>
            <a:pPr marL="344487" lvl="1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	= E[v | </a:t>
            </a:r>
            <a:r>
              <a:rPr lang="en-US" sz="2000" dirty="0" err="1" smtClean="0"/>
              <a:t>v+median</a:t>
            </a:r>
            <a:r>
              <a:rPr lang="en-US" sz="2000" dirty="0" smtClean="0"/>
              <a:t>(e)=</a:t>
            </a:r>
            <a:r>
              <a:rPr lang="en-US" sz="2000" dirty="0"/>
              <a:t> </a:t>
            </a:r>
            <a:r>
              <a:rPr lang="en-US" sz="2000" dirty="0" err="1"/>
              <a:t>s</a:t>
            </a:r>
            <a:r>
              <a:rPr lang="en-US" sz="2000" baseline="-25000" dirty="0" err="1"/>
              <a:t>i</a:t>
            </a:r>
            <a:r>
              <a:rPr lang="en-US" sz="2000" dirty="0" smtClean="0"/>
              <a:t>]</a:t>
            </a:r>
          </a:p>
          <a:p>
            <a:pPr marL="344487" lvl="1" indent="0">
              <a:buNone/>
            </a:pPr>
            <a:r>
              <a:rPr lang="en-US" sz="2000" dirty="0" smtClean="0"/>
              <a:t>		= </a:t>
            </a:r>
            <a:r>
              <a:rPr lang="en-US" sz="2000" dirty="0" err="1" smtClean="0"/>
              <a:t>s</a:t>
            </a:r>
            <a:r>
              <a:rPr lang="en-US" sz="2000" baseline="-25000" dirty="0" err="1" smtClean="0"/>
              <a:t>i</a:t>
            </a:r>
            <a:endParaRPr lang="en-US" sz="2000" baseline="-25000" dirty="0" smtClean="0"/>
          </a:p>
          <a:p>
            <a:pPr lvl="3"/>
            <a:endParaRPr lang="en-US" sz="1000" dirty="0" smtClean="0"/>
          </a:p>
          <a:p>
            <a:r>
              <a:rPr lang="en-US" sz="2000" dirty="0" smtClean="0"/>
              <a:t>Price will be </a:t>
            </a:r>
            <a:r>
              <a:rPr lang="en-US" sz="2000" i="1" dirty="0" smtClean="0"/>
              <a:t>b(s</a:t>
            </a:r>
            <a:r>
              <a:rPr lang="en-US" sz="2000" i="1" baseline="-25000" dirty="0" smtClean="0"/>
              <a:t>K+1</a:t>
            </a:r>
            <a:r>
              <a:rPr lang="en-US" sz="2000" i="1" dirty="0"/>
              <a:t>)=</a:t>
            </a:r>
            <a:r>
              <a:rPr lang="en-US" sz="2000" i="1" dirty="0" smtClean="0"/>
              <a:t>s</a:t>
            </a:r>
            <a:r>
              <a:rPr lang="en-US" sz="2000" i="1" baseline="-25000" dirty="0" smtClean="0"/>
              <a:t>K+1</a:t>
            </a:r>
            <a:r>
              <a:rPr lang="en-US" sz="2000" i="1" dirty="0"/>
              <a:t>,</a:t>
            </a:r>
            <a:r>
              <a:rPr lang="en-US" sz="2000" i="1" dirty="0" smtClean="0"/>
              <a:t> </a:t>
            </a:r>
            <a:r>
              <a:rPr lang="en-US" sz="2000" dirty="0" smtClean="0"/>
              <a:t>where </a:t>
            </a:r>
            <a:r>
              <a:rPr lang="en-US" sz="2000" i="1" dirty="0" smtClean="0"/>
              <a:t>s</a:t>
            </a:r>
            <a:r>
              <a:rPr lang="en-US" sz="2000" i="1" baseline="-25000" dirty="0" smtClean="0"/>
              <a:t>K+1 </a:t>
            </a:r>
            <a:r>
              <a:rPr lang="en-US" sz="2000" dirty="0" smtClean="0"/>
              <a:t>is </a:t>
            </a:r>
            <a:r>
              <a:rPr lang="en-US" sz="2000" i="1" dirty="0" smtClean="0"/>
              <a:t>K+1</a:t>
            </a:r>
            <a:r>
              <a:rPr lang="en-US" sz="2000" i="1" baseline="30000" dirty="0" smtClean="0"/>
              <a:t>st</a:t>
            </a:r>
            <a:r>
              <a:rPr lang="en-US" sz="2000" i="1" dirty="0" smtClean="0"/>
              <a:t> </a:t>
            </a:r>
            <a:r>
              <a:rPr lang="en-US" sz="2000" dirty="0" smtClean="0"/>
              <a:t>highest signal</a:t>
            </a:r>
            <a:r>
              <a:rPr lang="en-US" sz="2000" i="1" dirty="0" smtClean="0"/>
              <a:t>.</a:t>
            </a:r>
          </a:p>
          <a:p>
            <a:pPr lvl="2"/>
            <a:endParaRPr lang="en-US" sz="1300" i="1" dirty="0" smtClean="0"/>
          </a:p>
          <a:p>
            <a:r>
              <a:rPr lang="en-US" sz="2000" dirty="0" smtClean="0"/>
              <a:t>So the auction price will be approximately the median signal!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Information Aggregation</a:t>
            </a:r>
          </a:p>
        </p:txBody>
      </p:sp>
      <p:sp>
        <p:nvSpPr>
          <p:cNvPr id="49154" name="Line 4"/>
          <p:cNvSpPr>
            <a:spLocks noChangeShapeType="1"/>
          </p:cNvSpPr>
          <p:nvPr/>
        </p:nvSpPr>
        <p:spPr bwMode="auto">
          <a:xfrm>
            <a:off x="838200" y="5486400"/>
            <a:ext cx="739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155" name="Freeform 5"/>
          <p:cNvSpPr>
            <a:spLocks/>
          </p:cNvSpPr>
          <p:nvPr/>
        </p:nvSpPr>
        <p:spPr bwMode="auto">
          <a:xfrm>
            <a:off x="685800" y="2971800"/>
            <a:ext cx="6019800" cy="2273300"/>
          </a:xfrm>
          <a:custGeom>
            <a:avLst/>
            <a:gdLst>
              <a:gd name="T0" fmla="*/ 0 w 3792"/>
              <a:gd name="T1" fmla="*/ 2147483647 h 1432"/>
              <a:gd name="T2" fmla="*/ 2147483647 w 3792"/>
              <a:gd name="T3" fmla="*/ 2147483647 h 1432"/>
              <a:gd name="T4" fmla="*/ 2147483647 w 3792"/>
              <a:gd name="T5" fmla="*/ 2147483647 h 1432"/>
              <a:gd name="T6" fmla="*/ 2147483647 w 3792"/>
              <a:gd name="T7" fmla="*/ 2147483647 h 1432"/>
              <a:gd name="T8" fmla="*/ 2147483647 w 3792"/>
              <a:gd name="T9" fmla="*/ 2147483647 h 1432"/>
              <a:gd name="T10" fmla="*/ 2147483647 w 3792"/>
              <a:gd name="T11" fmla="*/ 2147483647 h 1432"/>
              <a:gd name="T12" fmla="*/ 2147483647 w 3792"/>
              <a:gd name="T13" fmla="*/ 2147483647 h 1432"/>
              <a:gd name="T14" fmla="*/ 2147483647 w 3792"/>
              <a:gd name="T15" fmla="*/ 2147483647 h 143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792"/>
              <a:gd name="T25" fmla="*/ 0 h 1432"/>
              <a:gd name="T26" fmla="*/ 3792 w 3792"/>
              <a:gd name="T27" fmla="*/ 1432 h 143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792" h="1432">
                <a:moveTo>
                  <a:pt x="0" y="1368"/>
                </a:moveTo>
                <a:cubicBezTo>
                  <a:pt x="296" y="1340"/>
                  <a:pt x="592" y="1312"/>
                  <a:pt x="768" y="1272"/>
                </a:cubicBezTo>
                <a:cubicBezTo>
                  <a:pt x="944" y="1232"/>
                  <a:pt x="952" y="1200"/>
                  <a:pt x="1056" y="1128"/>
                </a:cubicBezTo>
                <a:cubicBezTo>
                  <a:pt x="1160" y="1056"/>
                  <a:pt x="1264" y="1024"/>
                  <a:pt x="1392" y="840"/>
                </a:cubicBezTo>
                <a:cubicBezTo>
                  <a:pt x="1520" y="656"/>
                  <a:pt x="1648" y="0"/>
                  <a:pt x="1824" y="24"/>
                </a:cubicBezTo>
                <a:cubicBezTo>
                  <a:pt x="2000" y="48"/>
                  <a:pt x="2160" y="760"/>
                  <a:pt x="2448" y="984"/>
                </a:cubicBezTo>
                <a:cubicBezTo>
                  <a:pt x="2736" y="1208"/>
                  <a:pt x="3328" y="1304"/>
                  <a:pt x="3552" y="1368"/>
                </a:cubicBezTo>
                <a:cubicBezTo>
                  <a:pt x="3776" y="1432"/>
                  <a:pt x="3784" y="1400"/>
                  <a:pt x="3792" y="1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49156" name="Freeform 6"/>
          <p:cNvSpPr>
            <a:spLocks/>
          </p:cNvSpPr>
          <p:nvPr/>
        </p:nvSpPr>
        <p:spPr bwMode="auto">
          <a:xfrm>
            <a:off x="2209800" y="2895600"/>
            <a:ext cx="6019800" cy="2273300"/>
          </a:xfrm>
          <a:custGeom>
            <a:avLst/>
            <a:gdLst>
              <a:gd name="T0" fmla="*/ 0 w 3792"/>
              <a:gd name="T1" fmla="*/ 2147483647 h 1432"/>
              <a:gd name="T2" fmla="*/ 2147483647 w 3792"/>
              <a:gd name="T3" fmla="*/ 2147483647 h 1432"/>
              <a:gd name="T4" fmla="*/ 2147483647 w 3792"/>
              <a:gd name="T5" fmla="*/ 2147483647 h 1432"/>
              <a:gd name="T6" fmla="*/ 2147483647 w 3792"/>
              <a:gd name="T7" fmla="*/ 2147483647 h 1432"/>
              <a:gd name="T8" fmla="*/ 2147483647 w 3792"/>
              <a:gd name="T9" fmla="*/ 2147483647 h 1432"/>
              <a:gd name="T10" fmla="*/ 2147483647 w 3792"/>
              <a:gd name="T11" fmla="*/ 2147483647 h 1432"/>
              <a:gd name="T12" fmla="*/ 2147483647 w 3792"/>
              <a:gd name="T13" fmla="*/ 2147483647 h 1432"/>
              <a:gd name="T14" fmla="*/ 2147483647 w 3792"/>
              <a:gd name="T15" fmla="*/ 2147483647 h 143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792"/>
              <a:gd name="T25" fmla="*/ 0 h 1432"/>
              <a:gd name="T26" fmla="*/ 3792 w 3792"/>
              <a:gd name="T27" fmla="*/ 1432 h 143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792" h="1432">
                <a:moveTo>
                  <a:pt x="0" y="1368"/>
                </a:moveTo>
                <a:cubicBezTo>
                  <a:pt x="296" y="1340"/>
                  <a:pt x="592" y="1312"/>
                  <a:pt x="768" y="1272"/>
                </a:cubicBezTo>
                <a:cubicBezTo>
                  <a:pt x="944" y="1232"/>
                  <a:pt x="952" y="1200"/>
                  <a:pt x="1056" y="1128"/>
                </a:cubicBezTo>
                <a:cubicBezTo>
                  <a:pt x="1160" y="1056"/>
                  <a:pt x="1264" y="1024"/>
                  <a:pt x="1392" y="840"/>
                </a:cubicBezTo>
                <a:cubicBezTo>
                  <a:pt x="1520" y="656"/>
                  <a:pt x="1648" y="0"/>
                  <a:pt x="1824" y="24"/>
                </a:cubicBezTo>
                <a:cubicBezTo>
                  <a:pt x="2000" y="48"/>
                  <a:pt x="2160" y="760"/>
                  <a:pt x="2448" y="984"/>
                </a:cubicBezTo>
                <a:cubicBezTo>
                  <a:pt x="2736" y="1208"/>
                  <a:pt x="3328" y="1304"/>
                  <a:pt x="3552" y="1368"/>
                </a:cubicBezTo>
                <a:cubicBezTo>
                  <a:pt x="3776" y="1432"/>
                  <a:pt x="3784" y="1400"/>
                  <a:pt x="3792" y="1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49158" name="Text Box 8"/>
          <p:cNvSpPr txBox="1">
            <a:spLocks noChangeArrowheads="1"/>
          </p:cNvSpPr>
          <p:nvPr/>
        </p:nvSpPr>
        <p:spPr bwMode="auto">
          <a:xfrm>
            <a:off x="659929" y="1707118"/>
            <a:ext cx="746438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 smtClean="0"/>
              <a:t>If value if v, signals will be distributed around v – and if there are enough bidders, the true value will be close to the median signal.</a:t>
            </a:r>
          </a:p>
        </p:txBody>
      </p:sp>
      <p:sp>
        <p:nvSpPr>
          <p:cNvPr id="49160" name="Text Box 10"/>
          <p:cNvSpPr txBox="1">
            <a:spLocks noChangeArrowheads="1"/>
          </p:cNvSpPr>
          <p:nvPr/>
        </p:nvSpPr>
        <p:spPr bwMode="auto">
          <a:xfrm>
            <a:off x="5486400" y="5638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49162" name="Line 12"/>
          <p:cNvSpPr>
            <a:spLocks noChangeShapeType="1"/>
          </p:cNvSpPr>
          <p:nvPr/>
        </p:nvSpPr>
        <p:spPr bwMode="auto">
          <a:xfrm flipV="1">
            <a:off x="5257800" y="5486400"/>
            <a:ext cx="0" cy="1748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 flipV="1">
            <a:off x="3419872" y="5486400"/>
            <a:ext cx="0" cy="1497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3233691" y="5687497"/>
            <a:ext cx="4283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 smtClean="0"/>
              <a:t>vL</a:t>
            </a:r>
            <a:endParaRPr lang="en-US" sz="18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89FD5-5CDB-42D2-920E-3134AB06538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043639" y="5687497"/>
            <a:ext cx="466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 smtClean="0"/>
              <a:t>vH</a:t>
            </a:r>
            <a:endParaRPr lang="en-US" sz="18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Common values in practice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077200" cy="4525963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sz="2600" dirty="0" smtClean="0"/>
              <a:t>Many auctions have some “common value” aspect</a:t>
            </a:r>
          </a:p>
          <a:p>
            <a:pPr lvl="5">
              <a:spcAft>
                <a:spcPct val="20000"/>
              </a:spcAft>
            </a:pPr>
            <a:endParaRPr lang="en-US" sz="1600" dirty="0" smtClean="0"/>
          </a:p>
          <a:p>
            <a:pPr lvl="1" eaLnBrk="1" hangingPunct="1">
              <a:spcAft>
                <a:spcPct val="20000"/>
              </a:spcAft>
            </a:pPr>
            <a:r>
              <a:rPr lang="en-US" sz="2200" dirty="0" smtClean="0"/>
              <a:t>Treasury bill auctions – everyone may have a guess about the trading price after the auction, but no one knows for sure. Same for IPOs and new debt issuance.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200" dirty="0" smtClean="0"/>
              <a:t>Timber auctions: what kind of timber is actually out there on the tract that’s being sold.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200" dirty="0" smtClean="0"/>
              <a:t>Oil lease auctions: oil is under the Gulf of Mexico, bidders do independent seismic studies – each has valuable information.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OCS Auctions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dirty="0" smtClean="0"/>
              <a:t>The US government auctions the right to drill for oil on the outer continental shelf.</a:t>
            </a:r>
          </a:p>
          <a:p>
            <a:pPr eaLnBrk="1" hangingPunct="1"/>
            <a:r>
              <a:rPr lang="en-US" sz="2600" dirty="0" smtClean="0"/>
              <a:t>Value of oil is similar to the different bidders, but no one knows how much oil there is, or if there’s none.</a:t>
            </a:r>
          </a:p>
          <a:p>
            <a:pPr eaLnBrk="1" hangingPunct="1"/>
            <a:r>
              <a:rPr lang="en-US" sz="2600" dirty="0" smtClean="0"/>
              <a:t>Prior to the auction, the bidders do seismic studies.</a:t>
            </a:r>
          </a:p>
          <a:p>
            <a:pPr eaLnBrk="1" hangingPunct="1"/>
            <a:r>
              <a:rPr lang="en-US" sz="2600" dirty="0" smtClean="0"/>
              <a:t>Two kinds of sale</a:t>
            </a:r>
          </a:p>
          <a:p>
            <a:pPr lvl="1" eaLnBrk="1" hangingPunct="1"/>
            <a:r>
              <a:rPr lang="en-US" sz="2200" dirty="0" smtClean="0"/>
              <a:t>“Wildcat sale” - new territory being sold</a:t>
            </a:r>
          </a:p>
          <a:p>
            <a:pPr lvl="1" eaLnBrk="1" hangingPunct="1"/>
            <a:r>
              <a:rPr lang="en-US" sz="2200" dirty="0" smtClean="0"/>
              <a:t>“Drainage sale” - territory adjacent to existing tract.</a:t>
            </a:r>
          </a:p>
          <a:p>
            <a:pPr eaLnBrk="1" hangingPunct="1"/>
            <a:r>
              <a:rPr lang="en-US" sz="2600" dirty="0" smtClean="0"/>
              <a:t>These are like the “wallet auctions” we ran in class!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Wildcat vs Drainage</a:t>
            </a:r>
          </a:p>
        </p:txBody>
      </p:sp>
      <p:pic>
        <p:nvPicPr>
          <p:cNvPr id="5529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1371600"/>
            <a:ext cx="5943600" cy="52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5511" name="Oval 7"/>
          <p:cNvSpPr>
            <a:spLocks noChangeArrowheads="1"/>
          </p:cNvSpPr>
          <p:nvPr/>
        </p:nvSpPr>
        <p:spPr bwMode="auto">
          <a:xfrm>
            <a:off x="5105400" y="3810000"/>
            <a:ext cx="2590800" cy="533400"/>
          </a:xfrm>
          <a:prstGeom prst="ellipse">
            <a:avLst/>
          </a:prstGeom>
          <a:noFill/>
          <a:ln w="28575">
            <a:solidFill>
              <a:srgbClr val="5F3EE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solidFill>
                <a:srgbClr val="5F3EEA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89FD5-5CDB-42D2-920E-3134AB06538E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5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Drainage sales</a:t>
            </a:r>
          </a:p>
        </p:txBody>
      </p:sp>
      <p:pic>
        <p:nvPicPr>
          <p:cNvPr id="5734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828800"/>
            <a:ext cx="7827963" cy="461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7557" name="Oval 5"/>
          <p:cNvSpPr>
            <a:spLocks noChangeArrowheads="1"/>
          </p:cNvSpPr>
          <p:nvPr/>
        </p:nvSpPr>
        <p:spPr bwMode="auto">
          <a:xfrm>
            <a:off x="3352800" y="4724400"/>
            <a:ext cx="2209800" cy="457200"/>
          </a:xfrm>
          <a:prstGeom prst="ellipse">
            <a:avLst/>
          </a:prstGeom>
          <a:noFill/>
          <a:ln w="28575">
            <a:solidFill>
              <a:srgbClr val="5F3EEA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solidFill>
                <a:srgbClr val="5F3EEA"/>
              </a:solidFill>
            </a:endParaRPr>
          </a:p>
        </p:txBody>
      </p:sp>
      <p:sp>
        <p:nvSpPr>
          <p:cNvPr id="1047558" name="Oval 6"/>
          <p:cNvSpPr>
            <a:spLocks noChangeArrowheads="1"/>
          </p:cNvSpPr>
          <p:nvPr/>
        </p:nvSpPr>
        <p:spPr bwMode="auto">
          <a:xfrm>
            <a:off x="5486400" y="4648200"/>
            <a:ext cx="2971800" cy="5334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solidFill>
                <a:srgbClr val="5F3EEA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89FD5-5CDB-42D2-920E-3134AB06538E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557" grpId="0" animBg="1"/>
      <p:bldP spid="104755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Explaining the Results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Comparing wildcat and drainage sales</a:t>
            </a:r>
          </a:p>
          <a:p>
            <a:pPr lvl="1"/>
            <a:endParaRPr lang="en-US" smtClean="0"/>
          </a:p>
          <a:p>
            <a:pPr lvl="1"/>
            <a:r>
              <a:rPr lang="en-US" smtClean="0"/>
              <a:t>Wildcat sales yield low profits =&gt; competition.</a:t>
            </a:r>
          </a:p>
          <a:p>
            <a:pPr lvl="1"/>
            <a:endParaRPr lang="en-US" smtClean="0"/>
          </a:p>
          <a:p>
            <a:pPr lvl="1"/>
            <a:r>
              <a:rPr lang="en-US" smtClean="0"/>
              <a:t>Drainage sales are profitable, but only for “insiders” =&gt; insiders have an advantage.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/>
              <a:t>Internet Advertising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z="2600" dirty="0" smtClean="0"/>
              <a:t>Internet advertisers often can identify people or profile their behavior and then bid to show them ads. </a:t>
            </a:r>
          </a:p>
          <a:p>
            <a:pPr lvl="4"/>
            <a:endParaRPr lang="en-US" sz="1800" dirty="0" smtClean="0">
              <a:ea typeface="ＭＳ Ｐゴシック" pitchFamily="84" charset="-128"/>
            </a:endParaRPr>
          </a:p>
          <a:p>
            <a:r>
              <a:rPr lang="en-US" sz="2600" dirty="0" smtClean="0"/>
              <a:t>Concern in some advertising auctions</a:t>
            </a:r>
          </a:p>
          <a:p>
            <a:pPr lvl="1"/>
            <a:r>
              <a:rPr lang="en-US" sz="2000" dirty="0" smtClean="0"/>
              <a:t>Sophisticated advertisers potentially can “cherry-pick” the best opportunities by bidding high only for those impressions.</a:t>
            </a:r>
          </a:p>
          <a:p>
            <a:pPr lvl="1"/>
            <a:r>
              <a:rPr lang="en-US" sz="2000" dirty="0" smtClean="0"/>
              <a:t>Less sophisticated advertisers who submit the same bid for good and bad opportunities might be left with only the bad ones.</a:t>
            </a:r>
            <a:r>
              <a:rPr lang="en-US" sz="2200" dirty="0" smtClean="0"/>
              <a:t> </a:t>
            </a:r>
          </a:p>
          <a:p>
            <a:pPr lvl="1"/>
            <a:endParaRPr lang="en-US" sz="2200" dirty="0" smtClean="0"/>
          </a:p>
          <a:p>
            <a:r>
              <a:rPr lang="en-US" sz="2600" dirty="0" smtClean="0"/>
              <a:t>Example: the Yahoo! - “Happy Meal” contract.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Initial Public Offerings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700808"/>
            <a:ext cx="4176464" cy="5040560"/>
          </a:xfrm>
        </p:spPr>
        <p:txBody>
          <a:bodyPr/>
          <a:lstStyle/>
          <a:p>
            <a:r>
              <a:rPr lang="en-US" sz="2200" dirty="0" smtClean="0"/>
              <a:t>In an IPO, all buyers essentially have the same value </a:t>
            </a:r>
            <a:r>
              <a:rPr lang="en-US" sz="2200" i="1" dirty="0" smtClean="0"/>
              <a:t>v</a:t>
            </a:r>
            <a:r>
              <a:rPr lang="en-US" sz="2200" dirty="0" smtClean="0"/>
              <a:t>, the stock price once trading opens.</a:t>
            </a:r>
          </a:p>
          <a:p>
            <a:pPr lvl="3"/>
            <a:endParaRPr lang="en-US" sz="1200" dirty="0" smtClean="0"/>
          </a:p>
          <a:p>
            <a:r>
              <a:rPr lang="en-US" sz="2200" dirty="0" smtClean="0"/>
              <a:t>You should want to buy in the IPO if you think the IPO price </a:t>
            </a:r>
            <a:r>
              <a:rPr lang="en-US" sz="2200" i="1" dirty="0" smtClean="0"/>
              <a:t>p </a:t>
            </a:r>
            <a:r>
              <a:rPr lang="en-US" sz="2200" dirty="0" smtClean="0"/>
              <a:t>is less than </a:t>
            </a:r>
            <a:r>
              <a:rPr lang="en-US" sz="2200" i="1" dirty="0" smtClean="0"/>
              <a:t>v</a:t>
            </a:r>
            <a:r>
              <a:rPr lang="en-US" sz="2200" dirty="0" smtClean="0"/>
              <a:t>.</a:t>
            </a:r>
          </a:p>
          <a:p>
            <a:pPr lvl="3"/>
            <a:endParaRPr lang="en-US" sz="1200" dirty="0" smtClean="0"/>
          </a:p>
          <a:p>
            <a:r>
              <a:rPr lang="en-US" sz="2200" dirty="0" smtClean="0"/>
              <a:t>Do IPOs sell at a discount? Not necessarily. If everyone know v, competition and “no arbitrage” should drive price up to v.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892" y="2420888"/>
            <a:ext cx="4244210" cy="3027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2" y="1556792"/>
            <a:ext cx="840105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78657" y="668337"/>
            <a:ext cx="79105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>
            <a:spAutoFit/>
          </a:bodyPr>
          <a:lstStyle/>
          <a:p>
            <a:pPr defTabSz="865188" fontAlgn="base">
              <a:spcBef>
                <a:spcPct val="0"/>
              </a:spcBef>
              <a:spcAft>
                <a:spcPct val="0"/>
              </a:spcAft>
            </a:pPr>
            <a:endParaRPr lang="en-US" altLang="zh-TW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364457" y="1277937"/>
            <a:ext cx="7239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0"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33400" y="5366792"/>
            <a:ext cx="8062913" cy="122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6493" tIns="43247" rIns="86493" bIns="43247">
            <a:spAutoFit/>
          </a:bodyPr>
          <a:lstStyle/>
          <a:p>
            <a:pPr algn="ctr" defTabSz="865188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700" dirty="0" smtClean="0">
                <a:solidFill>
                  <a:srgbClr val="000000"/>
                </a:solidFill>
                <a:latin typeface="Calibri" pitchFamily="34" charset="0"/>
                <a:cs typeface="Times New Roman" pitchFamily="18" charset="0"/>
              </a:rPr>
              <a:t>Number of Offerings (bars) and Average First-day Returns (yellow) on US IPOs, 1980-2013</a:t>
            </a:r>
          </a:p>
          <a:p>
            <a:pPr algn="ctr" defTabSz="865188" fontAlgn="base">
              <a:spcBef>
                <a:spcPct val="0"/>
              </a:spcBef>
              <a:spcAft>
                <a:spcPct val="0"/>
              </a:spcAft>
            </a:pPr>
            <a:endParaRPr lang="en-US" altLang="zh-TW" sz="1700" dirty="0">
              <a:solidFill>
                <a:srgbClr val="000000"/>
              </a:solidFill>
              <a:latin typeface="Calibri" pitchFamily="34" charset="0"/>
              <a:cs typeface="Times New Roman" pitchFamily="18" charset="0"/>
            </a:endParaRPr>
          </a:p>
          <a:p>
            <a:pPr defTabSz="865188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000" dirty="0" smtClean="0">
                <a:solidFill>
                  <a:srgbClr val="000000"/>
                </a:solidFill>
                <a:cs typeface="Times New Roman" pitchFamily="18" charset="0"/>
              </a:rPr>
              <a:t>Source: Jay Ritter, University of Florida.</a:t>
            </a:r>
          </a:p>
          <a:p>
            <a:pPr defTabSz="865188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000" dirty="0" smtClean="0">
                <a:solidFill>
                  <a:srgbClr val="000000"/>
                </a:solidFill>
                <a:cs typeface="Times New Roman" pitchFamily="18" charset="0"/>
              </a:rPr>
              <a:t> </a:t>
            </a:r>
          </a:p>
          <a:p>
            <a:pPr defTabSz="865188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000" dirty="0" smtClean="0">
                <a:solidFill>
                  <a:srgbClr val="000000"/>
                </a:solidFill>
                <a:cs typeface="Times New Roman" pitchFamily="18" charset="0"/>
              </a:rPr>
              <a:t>The number of IPOs excludes closed-end funds, REITs, SPACs, natural resource limited partnerships, ADRs, bank and S&amp;L IPOs, IPOs with an offer price below $5 per share, unit offers, and IPOs that are not CRSP-listed within six months of the IPO.</a:t>
            </a:r>
            <a:endParaRPr lang="en-US" altLang="zh-TW" sz="10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57200" y="620688"/>
            <a:ext cx="7543800" cy="714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+mj-lt"/>
                <a:ea typeface="ＭＳ Ｐゴシック" pitchFamily="84" charset="-128"/>
                <a:cs typeface="ＭＳ Ｐゴシック" pitchFamily="8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ea typeface="ＭＳ Ｐゴシック" pitchFamily="84" charset="-128"/>
                <a:cs typeface="ＭＳ Ｐゴシック" pitchFamily="8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ea typeface="ＭＳ Ｐゴシック" pitchFamily="84" charset="-128"/>
                <a:cs typeface="ＭＳ Ｐゴシック" pitchFamily="8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ea typeface="ＭＳ Ｐゴシック" pitchFamily="84" charset="-128"/>
                <a:cs typeface="ＭＳ Ｐゴシック" pitchFamily="8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ea typeface="ＭＳ Ｐゴシック" pitchFamily="84" charset="-128"/>
                <a:cs typeface="ＭＳ Ｐゴシック" pitchFamily="8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 smtClean="0"/>
              <a:t>IPOs Sell at a Discount</a:t>
            </a:r>
          </a:p>
        </p:txBody>
      </p:sp>
    </p:spTree>
    <p:extLst>
      <p:ext uri="{BB962C8B-B14F-4D97-AF65-F5344CB8AC3E}">
        <p14:creationId xmlns:p14="http://schemas.microsoft.com/office/powerpoint/2010/main" val="127349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IPO Underpricing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28800"/>
            <a:ext cx="8229600" cy="45021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One explanation is the winner’s curse. 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If some potential buyers are informed, then if you obtain shares in the IPO, it may mean the informed buyers stayed away.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Therefore, regular buyers may need to be cautious, and as a result, IPOs sell at a discount. </a:t>
            </a:r>
          </a:p>
          <a:p>
            <a:pPr lvl="2"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2400" dirty="0" smtClean="0"/>
              <a:t>There are alternative explanations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I-Banks set IPO prices low to cater to clients.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I-Banks deliberately choose a low price to have control over who gets allocated shares, and avoid any risk of under-sell.</a:t>
            </a:r>
          </a:p>
          <a:p>
            <a:pPr lvl="2"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2400" dirty="0" smtClean="0"/>
              <a:t> Perhaps well-designed IPO auction could aggregate information, but IPOs generally don’t use auctions…</a:t>
            </a: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endParaRPr lang="en-US" sz="24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2359C-C189-43E4-AFD8-D50BEF3BE562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681537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2600" dirty="0" smtClean="0"/>
              <a:t>Many auctions have a “common value” flavor.</a:t>
            </a:r>
          </a:p>
          <a:p>
            <a:pPr>
              <a:lnSpc>
                <a:spcPct val="130000"/>
              </a:lnSpc>
            </a:pPr>
            <a:r>
              <a:rPr lang="en-US" sz="2600" dirty="0" smtClean="0"/>
              <a:t>In common value settings:</a:t>
            </a:r>
            <a:endParaRPr lang="en-US" dirty="0" smtClean="0"/>
          </a:p>
          <a:p>
            <a:pPr lvl="1">
              <a:lnSpc>
                <a:spcPct val="110000"/>
              </a:lnSpc>
            </a:pPr>
            <a:r>
              <a:rPr lang="en-US" sz="2200" dirty="0" smtClean="0"/>
              <a:t>The event of winning reveals information about opponent estimates, and bidders must account for this. </a:t>
            </a:r>
          </a:p>
          <a:p>
            <a:pPr lvl="1">
              <a:lnSpc>
                <a:spcPct val="110000"/>
              </a:lnSpc>
            </a:pPr>
            <a:r>
              <a:rPr lang="en-US" sz="2200" dirty="0" smtClean="0"/>
              <a:t>Bidders without accurate information must be cautious when bidding against bidders with very good information.</a:t>
            </a:r>
          </a:p>
          <a:p>
            <a:pPr lvl="1">
              <a:lnSpc>
                <a:spcPct val="110000"/>
              </a:lnSpc>
            </a:pPr>
            <a:r>
              <a:rPr lang="en-US" sz="2200" dirty="0" smtClean="0"/>
              <a:t>If there are many bidders and dispersed information, the auction price can be a useful indicator of the item’s value.</a:t>
            </a:r>
          </a:p>
          <a:p>
            <a:pPr lvl="1">
              <a:lnSpc>
                <a:spcPct val="110000"/>
              </a:lnSpc>
            </a:pPr>
            <a:r>
              <a:rPr lang="en-US" sz="2200" dirty="0" smtClean="0"/>
              <a:t>The management of information is very important.</a:t>
            </a:r>
            <a:endParaRPr 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51989-ADB3-4A54-AAEF-73E8122B6CA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2004</TotalTime>
  <Words>1750</Words>
  <Application>Microsoft Office PowerPoint</Application>
  <PresentationFormat>On-screen Show (4:3)</PresentationFormat>
  <Paragraphs>254</Paragraphs>
  <Slides>30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Network</vt:lpstr>
      <vt:lpstr>Common Value Auctions</vt:lpstr>
      <vt:lpstr>Coin auction</vt:lpstr>
      <vt:lpstr>Coin auction</vt:lpstr>
      <vt:lpstr>The winner’s curse</vt:lpstr>
      <vt:lpstr>Common Value Auctions</vt:lpstr>
      <vt:lpstr>Imperfect Estimate Model</vt:lpstr>
      <vt:lpstr>How to Bid?</vt:lpstr>
      <vt:lpstr>Symmetric Equilibrium</vt:lpstr>
      <vt:lpstr>The No Regret Property</vt:lpstr>
      <vt:lpstr>Common Value Bidding</vt:lpstr>
      <vt:lpstr>Winner’s or Loser’s Curse?</vt:lpstr>
      <vt:lpstr>Not just uncertainty</vt:lpstr>
      <vt:lpstr>Providing Information to Bidders</vt:lpstr>
      <vt:lpstr>De Beers Diamond Example</vt:lpstr>
      <vt:lpstr>Financial Securities Example</vt:lpstr>
      <vt:lpstr>Information aggregation</vt:lpstr>
      <vt:lpstr>Information aggregation</vt:lpstr>
      <vt:lpstr>Information aggregation</vt:lpstr>
      <vt:lpstr>Why Information Aggregation?</vt:lpstr>
      <vt:lpstr>Information Aggregation</vt:lpstr>
      <vt:lpstr>Common values in practice</vt:lpstr>
      <vt:lpstr>OCS Auctions</vt:lpstr>
      <vt:lpstr>Wildcat vs Drainage</vt:lpstr>
      <vt:lpstr>Drainage sales</vt:lpstr>
      <vt:lpstr>Explaining the Results</vt:lpstr>
      <vt:lpstr>Internet Advertising</vt:lpstr>
      <vt:lpstr>Initial Public Offerings</vt:lpstr>
      <vt:lpstr>PowerPoint Presentation</vt:lpstr>
      <vt:lpstr>IPO Underpricing</vt:lpstr>
      <vt:lpstr>Summary</vt:lpstr>
    </vt:vector>
  </TitlesOfParts>
  <Company>Stanford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Value Auctions</dc:title>
  <dc:creator>Jonathan Levin</dc:creator>
  <cp:lastModifiedBy>Jon Levin</cp:lastModifiedBy>
  <cp:revision>60</cp:revision>
  <cp:lastPrinted>2014-04-29T08:28:00Z</cp:lastPrinted>
  <dcterms:created xsi:type="dcterms:W3CDTF">2011-04-19T06:18:27Z</dcterms:created>
  <dcterms:modified xsi:type="dcterms:W3CDTF">2014-04-30T05:41:26Z</dcterms:modified>
</cp:coreProperties>
</file>